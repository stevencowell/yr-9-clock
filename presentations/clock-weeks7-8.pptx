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42e7fa316a4c10" /><Relationship Type="http://schemas.openxmlformats.org/officeDocument/2006/relationships/extended-properties" Target="/docProps/app.xml" Id="R4cd4e8460c3448ea" /><Relationship Type="http://schemas.openxmlformats.org/officeDocument/2006/relationships/officeDocument" Target="/ppt/presentation.xml" Id="R8d2a0226c52d47b9" /></Relationships>
</file>

<file path=ppt/presentation.xml><?xml version="1.0" encoding="utf-8"?>
<p:presentation xmlns:p="http://schemas.openxmlformats.org/presentationml/2006/main">
  <p:sldMasterIdLst>
    <p:sldMasterId xmlns:r="http://schemas.openxmlformats.org/officeDocument/2006/relationships" id="2147483648" r:id="R9d1ea9c3f70a437d"/>
  </p:sldMasterIdLst>
  <p:notesMasterIdLst>
    <p:notesMasterId xmlns:r="http://schemas.openxmlformats.org/officeDocument/2006/relationships" r:id="R34051a4962d9498d"/>
  </p:notesMasterIdLst>
  <p:sldIdLst>
    <p:sldId xmlns:r="http://schemas.openxmlformats.org/officeDocument/2006/relationships" id="256" r:id="Rf821de0ed0324622"/>
    <p:sldId xmlns:r="http://schemas.openxmlformats.org/officeDocument/2006/relationships" id="257" r:id="Rc726d9b1137a4f1a"/>
    <p:sldId xmlns:r="http://schemas.openxmlformats.org/officeDocument/2006/relationships" id="258" r:id="R652563821aa14b06"/>
    <p:sldId xmlns:r="http://schemas.openxmlformats.org/officeDocument/2006/relationships" id="259" r:id="Rfdf98d6602934757"/>
    <p:sldId xmlns:r="http://schemas.openxmlformats.org/officeDocument/2006/relationships" id="260" r:id="Rc76e3dc81b3746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8ce0e5f31f4c69" /><Relationship Type="http://schemas.openxmlformats.org/officeDocument/2006/relationships/slideMaster" Target="/ppt/slideMasters/slideMaster1.xml" Id="R9d1ea9c3f70a437d" /><Relationship Type="http://schemas.openxmlformats.org/officeDocument/2006/relationships/notesMaster" Target="/ppt/notesMasters/notesMaster1.xml" Id="R34051a4962d9498d" /><Relationship Type="http://schemas.openxmlformats.org/officeDocument/2006/relationships/presProps" Target="/ppt/presProps.xml" Id="R36705758dd084edb" /><Relationship Type="http://schemas.openxmlformats.org/officeDocument/2006/relationships/tableStyles" Target="/ppt/tableStyles.xml" Id="R396ab13be9fd43ac" /><Relationship Type="http://schemas.openxmlformats.org/officeDocument/2006/relationships/slide" Target="/ppt/slides/slide1.xml" Id="Rf821de0ed0324622" /><Relationship Type="http://schemas.openxmlformats.org/officeDocument/2006/relationships/slide" Target="/ppt/slides/slide2.xml" Id="Rc726d9b1137a4f1a" /><Relationship Type="http://schemas.openxmlformats.org/officeDocument/2006/relationships/slide" Target="/ppt/slides/slide3.xml" Id="R652563821aa14b06" /><Relationship Type="http://schemas.openxmlformats.org/officeDocument/2006/relationships/slide" Target="/ppt/slides/slide4.xml" Id="Rfdf98d6602934757" /><Relationship Type="http://schemas.openxmlformats.org/officeDocument/2006/relationships/slide" Target="/ppt/slides/slide5.xml" Id="Rc76e3dc81b3746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d183818f1447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d51eec32bb453b" /><Relationship Type="http://schemas.openxmlformats.org/officeDocument/2006/relationships/notesMaster" Target="/ppt/notesMasters/notesMaster1.xml" Id="R436ed655998849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45b8b8aaf849c6" /><Relationship Type="http://schemas.openxmlformats.org/officeDocument/2006/relationships/notesMaster" Target="/ppt/notesMasters/notesMaster1.xml" Id="R3ed0b8c327b34d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08d99c0e854bf2" /><Relationship Type="http://schemas.openxmlformats.org/officeDocument/2006/relationships/notesMaster" Target="/ppt/notesMasters/notesMaster1.xml" Id="R7773014f057340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e904b5c7a44562" /><Relationship Type="http://schemas.openxmlformats.org/officeDocument/2006/relationships/notesMaster" Target="/ppt/notesMasters/notesMaster1.xml" Id="R33e35ba02bfd48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3665ad440f4d3f" /><Relationship Type="http://schemas.openxmlformats.org/officeDocument/2006/relationships/notesMaster" Target="/ppt/notesMasters/notesMaster1.xml" Id="R5d8fde29c9994b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4a37047e124e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c3b1533d2f4dff" /><Relationship Type="http://schemas.openxmlformats.org/officeDocument/2006/relationships/slideLayout" Target="/ppt/slideLayouts/slideLayout1.xml" Id="Raf58ad488c4d43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58ad488c4d43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7437e3160048c6" /><Relationship Type="http://schemas.openxmlformats.org/officeDocument/2006/relationships/image" Target="/ppt/media/image.png" Id="R03781d4c24414bed" /><Relationship Type="http://schemas.openxmlformats.org/officeDocument/2006/relationships/notesSlide" Target="/ppt/notesSlides/notesSlide1.xml" Id="R2f431577da3445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e71f3006794e00" /><Relationship Type="http://schemas.openxmlformats.org/officeDocument/2006/relationships/image" Target="/ppt/media/image.jpeg" Id="R39abcec69cb943af" /><Relationship Type="http://schemas.openxmlformats.org/officeDocument/2006/relationships/notesSlide" Target="/ppt/notesSlides/notesSlide2.xml" Id="Re9d93157065347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02ec99202141da" /><Relationship Type="http://schemas.openxmlformats.org/officeDocument/2006/relationships/image" Target="/ppt/media/image2.jpeg" Id="Rd85a8d8df6214489" /><Relationship Type="http://schemas.openxmlformats.org/officeDocument/2006/relationships/notesSlide" Target="/ppt/notesSlides/notesSlide3.xml" Id="Rf5f229b3a93b42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5247348b074593" /><Relationship Type="http://schemas.openxmlformats.org/officeDocument/2006/relationships/image" Target="/ppt/media/image3.jpeg" Id="R7a1f4faba5b14ff0" /><Relationship Type="http://schemas.openxmlformats.org/officeDocument/2006/relationships/notesSlide" Target="/ppt/notesSlides/notesSlide4.xml" Id="R92a21339d6df49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21f1a1894143c1" /><Relationship Type="http://schemas.openxmlformats.org/officeDocument/2006/relationships/notesSlide" Target="/ppt/notesSlides/notesSlide5.xml" Id="R65378a357a1140d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3781d4c24414bed"/>
          <a:stretch xmlns:a="http://schemas.openxmlformats.org/drawingml/2006/main"/>
        </p:blipFill>
        <p:spPr>
          <a:xfrm xmlns:a="http://schemas.openxmlformats.org/drawingml/2006/main">
            <a:off x="6667500" y="1294254"/>
            <a:ext cx="5524500" cy="4269491"/>
          </a:xfrm>
          <a:prstGeom xmlns:a="http://schemas.openxmlformats.org/drawingml/2006/main" prst="rect">
            <a:avLst/>
          </a:prstGeom>
        </p:spPr>
      </p:pic>
      <p:sp>
        <p:nvSpPr>
          <p:cNvPr id="2" name="cover-accent">
            <a:extLst xmlns:a="http://schemas.openxmlformats.org/drawingml/2006/main">
              <a:ext uri="{FF2B5EF4-FFF2-40B4-BE49-F238E27FC236}">
                <a16:creationId xmlns:a16="http://schemas.microsoft.com/office/drawing/2014/main" id="{09BDA2DA-F45C-4363-AE03-2E38CF0360D0}"/>
              </a:ext>
            </a:extLst>
          </p:cNvPr>
          <p:cNvSpPr>
            <a:spLocks xmlns:a="http://schemas.openxmlformats.org/drawingml/2006/main" noGrp="1"/>
          </p:cNvSpPr>
          <p:nvPr/>
        </p:nvSpPr>
        <p:spPr>
          <a:xfrm xmlns:a="http://schemas.openxmlformats.org/drawingml/2006/main">
            <a:off x="6286500" y="0"/>
            <a:ext cx="38100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 name="cover-eyebrow">
            <a:extLst xmlns:a="http://schemas.openxmlformats.org/drawingml/2006/main">
              <a:ext uri="{FF2B5EF4-FFF2-40B4-BE49-F238E27FC236}">
                <a16:creationId xmlns:a16="http://schemas.microsoft.com/office/drawing/2014/main" id="{2FA14A84-F03E-4465-BFB1-23B38B545E3E}"/>
              </a:ext>
            </a:extLst>
          </p:cNvPr>
          <p:cNvSpPr>
            <a:spLocks xmlns:a="http://schemas.openxmlformats.org/drawingml/2006/main" noGrp="1"/>
          </p:cNvSpPr>
          <p:nvPr/>
        </p:nvSpPr>
        <p:spPr>
          <a:xfrm xmlns:a="http://schemas.openxmlformats.org/drawingml/2006/main">
            <a:off x="571500" y="6858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B5FAD"/>
                </a:solidFill>
                <a:latin typeface="Arial"/>
                <a:ea typeface="Arial"/>
                <a:cs typeface="Arial"/>
              </a:defRPr>
            </a:pPr>
            <a:r>
              <a:rPr sz="1350" b="1">
                <a:solidFill>
                  <a:srgbClr val="0B5FAD"/>
                </a:solidFill>
                <a:latin typeface="Arial"/>
                <a:ea typeface="Arial"/>
                <a:cs typeface="Arial"/>
              </a:rPr>
              <a:t>MODULE 4 OF 10 · WEEKS 7–8</a:t>
            </a:r>
          </a:p>
        </p:txBody>
      </p:sp>
      <p:sp>
        <p:nvSpPr>
          <p:cNvPr id="4" name="cover-title">
            <a:extLst xmlns:a="http://schemas.openxmlformats.org/drawingml/2006/main">
              <a:ext uri="{FF2B5EF4-FFF2-40B4-BE49-F238E27FC236}">
                <a16:creationId xmlns:a16="http://schemas.microsoft.com/office/drawing/2014/main" id="{2F0B1B10-E255-42B2-9BEB-6A907DDCB9DB}"/>
              </a:ext>
            </a:extLst>
          </p:cNvPr>
          <p:cNvSpPr>
            <a:spLocks xmlns:a="http://schemas.openxmlformats.org/drawingml/2006/main" noGrp="1"/>
          </p:cNvSpPr>
          <p:nvPr/>
        </p:nvSpPr>
        <p:spPr>
          <a:xfrm xmlns:a="http://schemas.openxmlformats.org/drawingml/2006/main">
            <a:off x="571500" y="1504950"/>
            <a:ext cx="5238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10263D"/>
                </a:solidFill>
                <a:latin typeface="Arial"/>
                <a:ea typeface="Arial"/>
                <a:cs typeface="Arial"/>
              </a:defRPr>
            </a:pPr>
            <a:r>
              <a:rPr sz="4200" b="1">
                <a:solidFill>
                  <a:srgbClr val="10263D"/>
                </a:solidFill>
                <a:latin typeface="Arial"/>
                <a:ea typeface="Arial"/>
                <a:cs typeface="Arial"/>
              </a:rPr>
              <a:t>Rebates, chamfers and carcass assembly</a:t>
            </a:r>
          </a:p>
        </p:txBody>
      </p:sp>
      <p:sp>
        <p:nvSpPr>
          <p:cNvPr id="5" name="cover-subtitle">
            <a:extLst xmlns:a="http://schemas.openxmlformats.org/drawingml/2006/main">
              <a:ext uri="{FF2B5EF4-FFF2-40B4-BE49-F238E27FC236}">
                <a16:creationId xmlns:a16="http://schemas.microsoft.com/office/drawing/2014/main" id="{3BEB359D-21AF-4813-90BB-BFED10C03A24}"/>
              </a:ext>
            </a:extLst>
          </p:cNvPr>
          <p:cNvSpPr>
            <a:spLocks xmlns:a="http://schemas.openxmlformats.org/drawingml/2006/main" noGrp="1"/>
          </p:cNvSpPr>
          <p:nvPr/>
        </p:nvSpPr>
        <p:spPr>
          <a:xfrm xmlns:a="http://schemas.openxmlformats.org/drawingml/2006/main">
            <a:off x="571500" y="4095750"/>
            <a:ext cx="5143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526579"/>
                </a:solidFill>
                <a:latin typeface="Arial"/>
                <a:ea typeface="Arial"/>
                <a:cs typeface="Arial"/>
              </a:defRPr>
            </a:pPr>
            <a:r>
              <a:rPr sz="1800">
                <a:solidFill>
                  <a:srgbClr val="526579"/>
                </a:solidFill>
                <a:latin typeface="Arial"/>
                <a:ea typeface="Arial"/>
                <a:cs typeface="Arial"/>
              </a:rPr>
              <a:t>Use the Clock drawing, the three theory sections and the module evidence in sequence.</a:t>
            </a:r>
          </a:p>
        </p:txBody>
      </p:sp>
      <p:sp>
        <p:nvSpPr>
          <p:cNvPr id="6" name="cover-footer">
            <a:extLst xmlns:a="http://schemas.openxmlformats.org/drawingml/2006/main">
              <a:ext uri="{FF2B5EF4-FFF2-40B4-BE49-F238E27FC236}">
                <a16:creationId xmlns:a16="http://schemas.microsoft.com/office/drawing/2014/main" id="{BF0712E7-A4BC-4891-BA83-9F727D1A4F51}"/>
              </a:ext>
            </a:extLst>
          </p:cNvPr>
          <p:cNvSpPr>
            <a:spLocks xmlns:a="http://schemas.openxmlformats.org/drawingml/2006/main" noGrp="1"/>
          </p:cNvSpPr>
          <p:nvPr/>
        </p:nvSpPr>
        <p:spPr>
          <a:xfrm xmlns:a="http://schemas.openxmlformats.org/drawingml/2006/main">
            <a:off x="571500" y="61531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526579"/>
                </a:solidFill>
                <a:latin typeface="Arial"/>
                <a:ea typeface="Arial"/>
                <a:cs typeface="Arial"/>
              </a:defRPr>
            </a:pPr>
            <a:r>
              <a:rPr sz="1200" b="1">
                <a:solidFill>
                  <a:srgbClr val="526579"/>
                </a:solidFill>
                <a:latin typeface="Arial"/>
                <a:ea typeface="Arial"/>
                <a:cs typeface="Arial"/>
              </a:rPr>
              <a:t>Clock Guided Course</a:t>
            </a:r>
          </a:p>
        </p:txBody>
      </p:sp>
    </p:spTree>
    <p:extLst>
      <p:ext uri="{BB962C8B-B14F-4D97-AF65-F5344CB8AC3E}">
        <p14:creationId xmlns:p14="http://schemas.microsoft.com/office/powerpoint/2010/main" val="11237159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abel-2">
            <a:extLst xmlns:a="http://schemas.openxmlformats.org/drawingml/2006/main">
              <a:ext uri="{FF2B5EF4-FFF2-40B4-BE49-F238E27FC236}">
                <a16:creationId xmlns:a16="http://schemas.microsoft.com/office/drawing/2014/main" id="{BF3A3AE9-29C3-4424-B6CC-9FDC08A25E4D}"/>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4 OF 10 · WEEKS 7–8</a:t>
            </a:r>
          </a:p>
        </p:txBody>
      </p:sp>
      <p:sp>
        <p:nvSpPr>
          <p:cNvPr id="2" name="page-2">
            <a:extLst xmlns:a="http://schemas.openxmlformats.org/drawingml/2006/main">
              <a:ext uri="{FF2B5EF4-FFF2-40B4-BE49-F238E27FC236}">
                <a16:creationId xmlns:a16="http://schemas.microsoft.com/office/drawing/2014/main" id="{90D5BD6B-9317-4C99-B0BF-B14C37E715C8}"/>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9abcec69cb943af"/>
          <a:stretch xmlns:a="http://schemas.openxmlformats.org/drawingml/2006/main"/>
        </p:blipFill>
        <p:spPr>
          <a:xfrm xmlns:a="http://schemas.openxmlformats.org/drawingml/2006/main">
            <a:off x="6572250" y="1916714"/>
            <a:ext cx="5619750" cy="3024573"/>
          </a:xfrm>
          <a:prstGeom xmlns:a="http://schemas.openxmlformats.org/drawingml/2006/main" prst="rect">
            <a:avLst/>
          </a:prstGeom>
        </p:spPr>
      </p:pic>
      <p:sp>
        <p:nvSpPr>
          <p:cNvPr id="4" name="topic-title-0">
            <a:extLst xmlns:a="http://schemas.openxmlformats.org/drawingml/2006/main">
              <a:ext uri="{FF2B5EF4-FFF2-40B4-BE49-F238E27FC236}">
                <a16:creationId xmlns:a16="http://schemas.microsoft.com/office/drawing/2014/main" id="{6E6751E5-06CC-4CAE-AF11-E74023B6CAAF}"/>
              </a:ext>
            </a:extLst>
          </p:cNvPr>
          <p:cNvSpPr>
            <a:spLocks xmlns:a="http://schemas.openxmlformats.org/drawingml/2006/main" noGrp="1"/>
          </p:cNvSpPr>
          <p:nvPr/>
        </p:nvSpPr>
        <p:spPr>
          <a:xfrm xmlns:a="http://schemas.openxmlformats.org/drawingml/2006/main">
            <a:off x="5905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Rebate joints in the Clock carcass</a:t>
            </a:r>
          </a:p>
        </p:txBody>
      </p:sp>
      <p:sp>
        <p:nvSpPr>
          <p:cNvPr id="5" name="topic-body-0">
            <a:extLst xmlns:a="http://schemas.openxmlformats.org/drawingml/2006/main">
              <a:ext uri="{FF2B5EF4-FFF2-40B4-BE49-F238E27FC236}">
                <a16:creationId xmlns:a16="http://schemas.microsoft.com/office/drawing/2014/main" id="{6B8095E6-4FE1-4801-B7C8-95804C4824F0}"/>
              </a:ext>
            </a:extLst>
          </p:cNvPr>
          <p:cNvSpPr>
            <a:spLocks xmlns:a="http://schemas.openxmlformats.org/drawingml/2006/main" noGrp="1"/>
          </p:cNvSpPr>
          <p:nvPr/>
        </p:nvSpPr>
        <p:spPr>
          <a:xfrm xmlns:a="http://schemas.openxmlformats.org/drawingml/2006/main">
            <a:off x="5905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A rebate joint is formed by removing a rectangular step from the edge or end of a timber component. This creates a shoulder and a recessed surface that allows another component to sit partly inside it.</a:t>
            </a:r>
          </a:p>
        </p:txBody>
      </p:sp>
      <p:sp>
        <p:nvSpPr>
          <p:cNvPr id="6" name="check-rule-0">
            <a:extLst xmlns:a="http://schemas.openxmlformats.org/drawingml/2006/main">
              <a:ext uri="{FF2B5EF4-FFF2-40B4-BE49-F238E27FC236}">
                <a16:creationId xmlns:a16="http://schemas.microsoft.com/office/drawing/2014/main" id="{94265CF3-8BAC-432B-97C9-6565234539CA}"/>
              </a:ext>
            </a:extLst>
          </p:cNvPr>
          <p:cNvSpPr>
            <a:spLocks xmlns:a="http://schemas.openxmlformats.org/drawingml/2006/main" noGrp="1"/>
          </p:cNvSpPr>
          <p:nvPr/>
        </p:nvSpPr>
        <p:spPr>
          <a:xfrm xmlns:a="http://schemas.openxmlformats.org/drawingml/2006/main">
            <a:off x="5905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topic-check-0">
            <a:extLst xmlns:a="http://schemas.openxmlformats.org/drawingml/2006/main">
              <a:ext uri="{FF2B5EF4-FFF2-40B4-BE49-F238E27FC236}">
                <a16:creationId xmlns:a16="http://schemas.microsoft.com/office/drawing/2014/main" id="{AD15F661-CA77-4A2E-BEA2-6094A783FFEB}"/>
              </a:ext>
            </a:extLst>
          </p:cNvPr>
          <p:cNvSpPr>
            <a:spLocks xmlns:a="http://schemas.openxmlformats.org/drawingml/2006/main" noGrp="1"/>
          </p:cNvSpPr>
          <p:nvPr/>
        </p:nvSpPr>
        <p:spPr>
          <a:xfrm xmlns:a="http://schemas.openxmlformats.org/drawingml/2006/main">
            <a:off x="5905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An accurate rebate joint depends on a correctly positioned shoulder, controlled depth and careful checking so the Clock carcass aligns properly and finishes flush.</a:t>
            </a:r>
          </a:p>
        </p:txBody>
      </p:sp>
    </p:spTree>
    <p:extLst>
      <p:ext uri="{BB962C8B-B14F-4D97-AF65-F5344CB8AC3E}">
        <p14:creationId xmlns:p14="http://schemas.microsoft.com/office/powerpoint/2010/main" val="16305530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label-3">
            <a:extLst xmlns:a="http://schemas.openxmlformats.org/drawingml/2006/main">
              <a:ext uri="{FF2B5EF4-FFF2-40B4-BE49-F238E27FC236}">
                <a16:creationId xmlns:a16="http://schemas.microsoft.com/office/drawing/2014/main" id="{46A3B8AF-051B-401A-BB98-0DFF7E7735A2}"/>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4 OF 10 · WEEKS 7–8</a:t>
            </a:r>
          </a:p>
        </p:txBody>
      </p:sp>
      <p:sp>
        <p:nvSpPr>
          <p:cNvPr id="2" name="page-3">
            <a:extLst xmlns:a="http://schemas.openxmlformats.org/drawingml/2006/main">
              <a:ext uri="{FF2B5EF4-FFF2-40B4-BE49-F238E27FC236}">
                <a16:creationId xmlns:a16="http://schemas.microsoft.com/office/drawing/2014/main" id="{644C9543-F706-41E8-8383-B1B5504FAA48}"/>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3</a:t>
            </a:r>
          </a:p>
        </p:txBody>
      </p:sp>
      <p:sp>
        <p:nvSpPr>
          <p:cNvPr id="3" name="accent-1">
            <a:extLst xmlns:a="http://schemas.openxmlformats.org/drawingml/2006/main">
              <a:ext uri="{FF2B5EF4-FFF2-40B4-BE49-F238E27FC236}">
                <a16:creationId xmlns:a16="http://schemas.microsoft.com/office/drawing/2014/main" id="{685250D2-E05F-47C7-8B7B-AEB134377A42}"/>
              </a:ext>
            </a:extLst>
          </p:cNvPr>
          <p:cNvSpPr>
            <a:spLocks xmlns:a="http://schemas.openxmlformats.org/drawingml/2006/main" noGrp="1"/>
          </p:cNvSpPr>
          <p:nvPr/>
        </p:nvSpPr>
        <p:spPr>
          <a:xfrm xmlns:a="http://schemas.openxmlformats.org/drawingml/2006/main">
            <a:off x="5905500" y="0"/>
            <a:ext cx="26670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85a8d8df6214489"/>
          <a:stretch xmlns:a="http://schemas.openxmlformats.org/drawingml/2006/main"/>
        </p:blipFill>
        <p:spPr>
          <a:xfrm xmlns:a="http://schemas.openxmlformats.org/drawingml/2006/main">
            <a:off x="0" y="1564888"/>
            <a:ext cx="5619750" cy="3728224"/>
          </a:xfrm>
          <a:prstGeom xmlns:a="http://schemas.openxmlformats.org/drawingml/2006/main" prst="rect">
            <a:avLst/>
          </a:prstGeom>
        </p:spPr>
      </p:pic>
      <p:sp>
        <p:nvSpPr>
          <p:cNvPr id="5" name="topic-title-1">
            <a:extLst xmlns:a="http://schemas.openxmlformats.org/drawingml/2006/main">
              <a:ext uri="{FF2B5EF4-FFF2-40B4-BE49-F238E27FC236}">
                <a16:creationId xmlns:a16="http://schemas.microsoft.com/office/drawing/2014/main" id="{75EFC7B7-C18A-4C9C-BCB8-9ED49CF9AC57}"/>
              </a:ext>
            </a:extLst>
          </p:cNvPr>
          <p:cNvSpPr>
            <a:spLocks xmlns:a="http://schemas.openxmlformats.org/drawingml/2006/main" noGrp="1"/>
          </p:cNvSpPr>
          <p:nvPr/>
        </p:nvSpPr>
        <p:spPr>
          <a:xfrm xmlns:a="http://schemas.openxmlformats.org/drawingml/2006/main">
            <a:off x="65722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Chamfered edges: controlled shaping and design effect</a:t>
            </a:r>
          </a:p>
        </p:txBody>
      </p:sp>
      <p:sp>
        <p:nvSpPr>
          <p:cNvPr id="6" name="topic-body-1">
            <a:extLst xmlns:a="http://schemas.openxmlformats.org/drawingml/2006/main">
              <a:ext uri="{FF2B5EF4-FFF2-40B4-BE49-F238E27FC236}">
                <a16:creationId xmlns:a16="http://schemas.microsoft.com/office/drawing/2014/main" id="{6B34A20A-FC4B-496A-BA24-535DC6E95508}"/>
              </a:ext>
            </a:extLst>
          </p:cNvPr>
          <p:cNvSpPr>
            <a:spLocks xmlns:a="http://schemas.openxmlformats.org/drawingml/2006/main" noGrp="1"/>
          </p:cNvSpPr>
          <p:nvPr/>
        </p:nvSpPr>
        <p:spPr>
          <a:xfrm xmlns:a="http://schemas.openxmlformats.org/drawingml/2006/main">
            <a:off x="65722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A chamfer is a flat, sloping surface formed by removing the sharp corner where two faces of a timber component meet. On the Clock project, chamfered edges are a required design feature.</a:t>
            </a:r>
          </a:p>
        </p:txBody>
      </p:sp>
      <p:sp>
        <p:nvSpPr>
          <p:cNvPr id="7" name="check-rule-1">
            <a:extLst xmlns:a="http://schemas.openxmlformats.org/drawingml/2006/main">
              <a:ext uri="{FF2B5EF4-FFF2-40B4-BE49-F238E27FC236}">
                <a16:creationId xmlns:a16="http://schemas.microsoft.com/office/drawing/2014/main" id="{1C604136-7974-4AD5-8580-72D4D82970E4}"/>
              </a:ext>
            </a:extLst>
          </p:cNvPr>
          <p:cNvSpPr>
            <a:spLocks xmlns:a="http://schemas.openxmlformats.org/drawingml/2006/main" noGrp="1"/>
          </p:cNvSpPr>
          <p:nvPr/>
        </p:nvSpPr>
        <p:spPr>
          <a:xfrm xmlns:a="http://schemas.openxmlformats.org/drawingml/2006/main">
            <a:off x="65722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topic-check-1">
            <a:extLst xmlns:a="http://schemas.openxmlformats.org/drawingml/2006/main">
              <a:ext uri="{FF2B5EF4-FFF2-40B4-BE49-F238E27FC236}">
                <a16:creationId xmlns:a16="http://schemas.microsoft.com/office/drawing/2014/main" id="{91ED3010-3889-4A34-B461-335DB11C82DB}"/>
              </a:ext>
            </a:extLst>
          </p:cNvPr>
          <p:cNvSpPr>
            <a:spLocks xmlns:a="http://schemas.openxmlformats.org/drawingml/2006/main" noGrp="1"/>
          </p:cNvSpPr>
          <p:nvPr/>
        </p:nvSpPr>
        <p:spPr>
          <a:xfrm xmlns:a="http://schemas.openxmlformats.org/drawingml/2006/main">
            <a:off x="65722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A successful chamfer is shaped from accurate references, developed with controlled and grain-aware passes, and checked for straightness, symmetry and an even surface.</a:t>
            </a:r>
          </a:p>
        </p:txBody>
      </p:sp>
    </p:spTree>
    <p:extLst>
      <p:ext uri="{BB962C8B-B14F-4D97-AF65-F5344CB8AC3E}">
        <p14:creationId xmlns:p14="http://schemas.microsoft.com/office/powerpoint/2010/main" val="19578615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abel-4">
            <a:extLst xmlns:a="http://schemas.openxmlformats.org/drawingml/2006/main">
              <a:ext uri="{FF2B5EF4-FFF2-40B4-BE49-F238E27FC236}">
                <a16:creationId xmlns:a16="http://schemas.microsoft.com/office/drawing/2014/main" id="{3D8F0061-C744-4B59-B9B2-BF2FFC43C2CD}"/>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4 OF 10 · WEEKS 7–8</a:t>
            </a:r>
          </a:p>
        </p:txBody>
      </p:sp>
      <p:sp>
        <p:nvSpPr>
          <p:cNvPr id="2" name="page-4">
            <a:extLst xmlns:a="http://schemas.openxmlformats.org/drawingml/2006/main">
              <a:ext uri="{FF2B5EF4-FFF2-40B4-BE49-F238E27FC236}">
                <a16:creationId xmlns:a16="http://schemas.microsoft.com/office/drawing/2014/main" id="{8D34B487-D240-44BF-81A1-5611EA39CA3D}"/>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a1f4faba5b14ff0"/>
          <a:stretch xmlns:a="http://schemas.openxmlformats.org/drawingml/2006/main"/>
        </p:blipFill>
        <p:spPr>
          <a:xfrm xmlns:a="http://schemas.openxmlformats.org/drawingml/2006/main">
            <a:off x="6572250" y="1456411"/>
            <a:ext cx="5619750" cy="3945178"/>
          </a:xfrm>
          <a:prstGeom xmlns:a="http://schemas.openxmlformats.org/drawingml/2006/main" prst="rect">
            <a:avLst/>
          </a:prstGeom>
        </p:spPr>
      </p:pic>
      <p:sp>
        <p:nvSpPr>
          <p:cNvPr id="4" name="topic-title-2">
            <a:extLst xmlns:a="http://schemas.openxmlformats.org/drawingml/2006/main">
              <a:ext uri="{FF2B5EF4-FFF2-40B4-BE49-F238E27FC236}">
                <a16:creationId xmlns:a16="http://schemas.microsoft.com/office/drawing/2014/main" id="{2C8C9A72-5E4F-4306-9368-CB454B9FA1BB}"/>
              </a:ext>
            </a:extLst>
          </p:cNvPr>
          <p:cNvSpPr>
            <a:spLocks xmlns:a="http://schemas.openxmlformats.org/drawingml/2006/main" noGrp="1"/>
          </p:cNvSpPr>
          <p:nvPr/>
        </p:nvSpPr>
        <p:spPr>
          <a:xfrm xmlns:a="http://schemas.openxmlformats.org/drawingml/2006/main">
            <a:off x="5905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Adhesive assembly, squareness and clamping</a:t>
            </a:r>
          </a:p>
        </p:txBody>
      </p:sp>
      <p:sp>
        <p:nvSpPr>
          <p:cNvPr id="5" name="topic-body-2">
            <a:extLst xmlns:a="http://schemas.openxmlformats.org/drawingml/2006/main">
              <a:ext uri="{FF2B5EF4-FFF2-40B4-BE49-F238E27FC236}">
                <a16:creationId xmlns:a16="http://schemas.microsoft.com/office/drawing/2014/main" id="{21C80E91-D5AD-4EE1-B65B-07990B72BDE8}"/>
              </a:ext>
            </a:extLst>
          </p:cNvPr>
          <p:cNvSpPr>
            <a:spLocks xmlns:a="http://schemas.openxmlformats.org/drawingml/2006/main" noGrp="1"/>
          </p:cNvSpPr>
          <p:nvPr/>
        </p:nvSpPr>
        <p:spPr>
          <a:xfrm xmlns:a="http://schemas.openxmlformats.org/drawingml/2006/main">
            <a:off x="5905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Accurate assembly begins before any adhesive is applied. A dry fit means bringing the Clock carcass components together without adhesive to check that the joints meet correctly. During this check, the parts should sit in their intended positions without being forced.</a:t>
            </a:r>
          </a:p>
        </p:txBody>
      </p:sp>
      <p:sp>
        <p:nvSpPr>
          <p:cNvPr id="6" name="check-rule-2">
            <a:extLst xmlns:a="http://schemas.openxmlformats.org/drawingml/2006/main">
              <a:ext uri="{FF2B5EF4-FFF2-40B4-BE49-F238E27FC236}">
                <a16:creationId xmlns:a16="http://schemas.microsoft.com/office/drawing/2014/main" id="{506EFA1C-9901-445C-8C92-403E19E507B1}"/>
              </a:ext>
            </a:extLst>
          </p:cNvPr>
          <p:cNvSpPr>
            <a:spLocks xmlns:a="http://schemas.openxmlformats.org/drawingml/2006/main" noGrp="1"/>
          </p:cNvSpPr>
          <p:nvPr/>
        </p:nvSpPr>
        <p:spPr>
          <a:xfrm xmlns:a="http://schemas.openxmlformats.org/drawingml/2006/main">
            <a:off x="5905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topic-check-2">
            <a:extLst xmlns:a="http://schemas.openxmlformats.org/drawingml/2006/main">
              <a:ext uri="{FF2B5EF4-FFF2-40B4-BE49-F238E27FC236}">
                <a16:creationId xmlns:a16="http://schemas.microsoft.com/office/drawing/2014/main" id="{B594CC1E-6B7A-4BD7-BCAC-835DC3CC7A0D}"/>
              </a:ext>
            </a:extLst>
          </p:cNvPr>
          <p:cNvSpPr>
            <a:spLocks xmlns:a="http://schemas.openxmlformats.org/drawingml/2006/main" noGrp="1"/>
          </p:cNvSpPr>
          <p:nvPr/>
        </p:nvSpPr>
        <p:spPr>
          <a:xfrm xmlns:a="http://schemas.openxmlformats.org/drawingml/2006/main">
            <a:off x="5905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A successful Clock carcass assembly depends on a careful dry fit, clean mating surfaces, controlled adhesive application, balanced clamping and repeated checks for square before the assembly…</a:t>
            </a:r>
          </a:p>
        </p:txBody>
      </p:sp>
    </p:spTree>
    <p:extLst>
      <p:ext uri="{BB962C8B-B14F-4D97-AF65-F5344CB8AC3E}">
        <p14:creationId xmlns:p14="http://schemas.microsoft.com/office/powerpoint/2010/main" val="2330378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label-5">
            <a:extLst xmlns:a="http://schemas.openxmlformats.org/drawingml/2006/main">
              <a:ext uri="{FF2B5EF4-FFF2-40B4-BE49-F238E27FC236}">
                <a16:creationId xmlns:a16="http://schemas.microsoft.com/office/drawing/2014/main" id="{2AE5BD37-1AF7-44AE-8CEB-77AF1E026B82}"/>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BEFORE YOU MOVE ON</a:t>
            </a:r>
          </a:p>
        </p:txBody>
      </p:sp>
      <p:sp>
        <p:nvSpPr>
          <p:cNvPr id="2" name="page-5">
            <a:extLst xmlns:a="http://schemas.openxmlformats.org/drawingml/2006/main">
              <a:ext uri="{FF2B5EF4-FFF2-40B4-BE49-F238E27FC236}">
                <a16:creationId xmlns:a16="http://schemas.microsoft.com/office/drawing/2014/main" id="{4817A121-341C-4CBE-95B4-5419465CFEC7}"/>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5</a:t>
            </a:r>
          </a:p>
        </p:txBody>
      </p:sp>
      <p:sp>
        <p:nvSpPr>
          <p:cNvPr id="3" name="close-panel">
            <a:extLst xmlns:a="http://schemas.openxmlformats.org/drawingml/2006/main">
              <a:ext uri="{FF2B5EF4-FFF2-40B4-BE49-F238E27FC236}">
                <a16:creationId xmlns:a16="http://schemas.microsoft.com/office/drawing/2014/main" id="{7D08EE3C-5319-4A05-9F58-9E9691A14ACE}"/>
              </a:ext>
            </a:extLst>
          </p:cNvPr>
          <p:cNvSpPr>
            <a:spLocks xmlns:a="http://schemas.openxmlformats.org/drawingml/2006/main" noGrp="1"/>
          </p:cNvSpPr>
          <p:nvPr/>
        </p:nvSpPr>
        <p:spPr>
          <a:xfrm xmlns:a="http://schemas.openxmlformats.org/drawingml/2006/main">
            <a:off x="552450" y="1428750"/>
            <a:ext cx="11087100" cy="3333750"/>
          </a:xfrm>
          <a:prstGeom xmlns:a="http://schemas.openxmlformats.org/drawingml/2006/main" prst="rect">
            <a:avLst/>
          </a:prstGeom>
          <a:solidFill xmlns:a="http://schemas.openxmlformats.org/drawingml/2006/main">
            <a:srgbClr val="EDF1F4"/>
          </a:solidFill>
          <a:ln xmlns:a="http://schemas.openxmlformats.org/drawingml/2006/main" w="9525">
            <a:solidFill>
              <a:srgbClr val="B8C2CC"/>
            </a:solidFill>
            <a:prstDash val="solid"/>
          </a:ln>
        </p:spPr>
      </p:sp>
      <p:sp>
        <p:nvSpPr>
          <p:cNvPr id="4" name="close-title">
            <a:extLst xmlns:a="http://schemas.openxmlformats.org/drawingml/2006/main">
              <a:ext uri="{FF2B5EF4-FFF2-40B4-BE49-F238E27FC236}">
                <a16:creationId xmlns:a16="http://schemas.microsoft.com/office/drawing/2014/main" id="{791348D3-284F-4BE7-A2E7-6C4C53055E73}"/>
              </a:ext>
            </a:extLst>
          </p:cNvPr>
          <p:cNvSpPr>
            <a:spLocks xmlns:a="http://schemas.openxmlformats.org/drawingml/2006/main" noGrp="1"/>
          </p:cNvSpPr>
          <p:nvPr/>
        </p:nvSpPr>
        <p:spPr>
          <a:xfrm xmlns:a="http://schemas.openxmlformats.org/drawingml/2006/main">
            <a:off x="914400" y="1952625"/>
            <a:ext cx="10287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300" b="1">
                <a:solidFill>
                  <a:srgbClr val="10263D"/>
                </a:solidFill>
                <a:latin typeface="Arial"/>
                <a:ea typeface="Arial"/>
                <a:cs typeface="Arial"/>
              </a:defRPr>
            </a:pPr>
            <a:r>
              <a:rPr sz="3300" b="1">
                <a:solidFill>
                  <a:srgbClr val="10263D"/>
                </a:solidFill>
                <a:latin typeface="Arial"/>
                <a:ea typeface="Arial"/>
                <a:cs typeface="Arial"/>
              </a:rPr>
              <a:t>Use these three Clock ideas to complete the Weeks 7–8 checks and evidence.</a:t>
            </a:r>
          </a:p>
        </p:txBody>
      </p:sp>
      <p:sp>
        <p:nvSpPr>
          <p:cNvPr id="5" name="close-action">
            <a:extLst xmlns:a="http://schemas.openxmlformats.org/drawingml/2006/main">
              <a:ext uri="{FF2B5EF4-FFF2-40B4-BE49-F238E27FC236}">
                <a16:creationId xmlns:a16="http://schemas.microsoft.com/office/drawing/2014/main" id="{719B6696-6E98-4EAB-9A93-86C6984BC6B2}"/>
              </a:ext>
            </a:extLst>
          </p:cNvPr>
          <p:cNvSpPr>
            <a:spLocks xmlns:a="http://schemas.openxmlformats.org/drawingml/2006/main" noGrp="1"/>
          </p:cNvSpPr>
          <p:nvPr/>
        </p:nvSpPr>
        <p:spPr>
          <a:xfrm xmlns:a="http://schemas.openxmlformats.org/drawingml/2006/main">
            <a:off x="1809750" y="5219700"/>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a:solidFill>
                  <a:srgbClr val="526579"/>
                </a:solidFill>
                <a:latin typeface="Arial"/>
                <a:ea typeface="Arial"/>
                <a:cs typeface="Arial"/>
              </a:defRPr>
            </a:pPr>
            <a:r>
              <a:rPr sz="1800">
                <a:solidFill>
                  <a:srgbClr val="526579"/>
                </a:solidFill>
                <a:latin typeface="Arial"/>
                <a:ea typeface="Arial"/>
                <a:cs typeface="Arial"/>
              </a:rPr>
              <a:t>Complete the knowledge checks and written responses, then download your evidence as directed.</a:t>
            </a:r>
          </a:p>
        </p:txBody>
      </p:sp>
    </p:spTree>
    <p:extLst>
      <p:ext uri="{BB962C8B-B14F-4D97-AF65-F5344CB8AC3E}">
        <p14:creationId xmlns:p14="http://schemas.microsoft.com/office/powerpoint/2010/main" val="20956295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2026-08-15T10:19:26.9140000Z</dcterms:created>
  <dcterms:modified xsi:type="dcterms:W3CDTF">2026-08-15T10:19:26.9140000Z</dcterms:modified>
</coreProperties>
</file>