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e37ce9d28dc40e5" /><Relationship Type="http://schemas.openxmlformats.org/officeDocument/2006/relationships/extended-properties" Target="/docProps/app.xml" Id="Rd178a3bf48234676" /><Relationship Type="http://schemas.openxmlformats.org/officeDocument/2006/relationships/officeDocument" Target="/ppt/presentation.xml" Id="R4e754d0287f64e6c" /></Relationships>
</file>

<file path=ppt/presentation.xml><?xml version="1.0" encoding="utf-8"?>
<p:presentation xmlns:p="http://schemas.openxmlformats.org/presentationml/2006/main">
  <p:sldMasterIdLst>
    <p:sldMasterId xmlns:r="http://schemas.openxmlformats.org/officeDocument/2006/relationships" id="2147483648" r:id="Ra163626490fd4d30"/>
  </p:sldMasterIdLst>
  <p:notesMasterIdLst>
    <p:notesMasterId xmlns:r="http://schemas.openxmlformats.org/officeDocument/2006/relationships" r:id="Rda37c837732243bb"/>
  </p:notesMasterIdLst>
  <p:sldIdLst>
    <p:sldId xmlns:r="http://schemas.openxmlformats.org/officeDocument/2006/relationships" id="256" r:id="Re16b8692e9464a56"/>
    <p:sldId xmlns:r="http://schemas.openxmlformats.org/officeDocument/2006/relationships" id="257" r:id="Rdc7c8d0b919c4629"/>
    <p:sldId xmlns:r="http://schemas.openxmlformats.org/officeDocument/2006/relationships" id="258" r:id="Rd134f5d0740844f6"/>
    <p:sldId xmlns:r="http://schemas.openxmlformats.org/officeDocument/2006/relationships" id="259" r:id="Rcae7252c46e64af4"/>
    <p:sldId xmlns:r="http://schemas.openxmlformats.org/officeDocument/2006/relationships" id="260" r:id="R04fecf0d4e57473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b61c31a1cf34a77" /><Relationship Type="http://schemas.openxmlformats.org/officeDocument/2006/relationships/slideMaster" Target="/ppt/slideMasters/slideMaster1.xml" Id="Ra163626490fd4d30" /><Relationship Type="http://schemas.openxmlformats.org/officeDocument/2006/relationships/notesMaster" Target="/ppt/notesMasters/notesMaster1.xml" Id="Rda37c837732243bb" /><Relationship Type="http://schemas.openxmlformats.org/officeDocument/2006/relationships/presProps" Target="/ppt/presProps.xml" Id="R74054b64f8a7446f" /><Relationship Type="http://schemas.openxmlformats.org/officeDocument/2006/relationships/tableStyles" Target="/ppt/tableStyles.xml" Id="R38cc3b734f124806" /><Relationship Type="http://schemas.openxmlformats.org/officeDocument/2006/relationships/slide" Target="/ppt/slides/slide1.xml" Id="Re16b8692e9464a56" /><Relationship Type="http://schemas.openxmlformats.org/officeDocument/2006/relationships/slide" Target="/ppt/slides/slide2.xml" Id="Rdc7c8d0b919c4629" /><Relationship Type="http://schemas.openxmlformats.org/officeDocument/2006/relationships/slide" Target="/ppt/slides/slide3.xml" Id="Rd134f5d0740844f6" /><Relationship Type="http://schemas.openxmlformats.org/officeDocument/2006/relationships/slide" Target="/ppt/slides/slide4.xml" Id="Rcae7252c46e64af4" /><Relationship Type="http://schemas.openxmlformats.org/officeDocument/2006/relationships/slide" Target="/ppt/slides/slide5.xml" Id="R04fecf0d4e57473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02be4c5f5904e7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cfa365209614d30" /><Relationship Type="http://schemas.openxmlformats.org/officeDocument/2006/relationships/notesMaster" Target="/ppt/notesMasters/notesMaster1.xml" Id="R67d0526a5035478b" /></Relationships>
</file>

<file path=ppt/notesSlides/_rels/notesSlide2.xml.rels>&#65279;<?xml version="1.0" encoding="utf-8"?><Relationships xmlns="http://schemas.openxmlformats.org/package/2006/relationships"><Relationship Type="http://schemas.openxmlformats.org/officeDocument/2006/relationships/slide" Target="/ppt/slides/slide2.xml" Id="R7161dc5301354726" /><Relationship Type="http://schemas.openxmlformats.org/officeDocument/2006/relationships/notesMaster" Target="/ppt/notesMasters/notesMaster1.xml" Id="R65b481181daa4870" /></Relationships>
</file>

<file path=ppt/notesSlides/_rels/notesSlide3.xml.rels>&#65279;<?xml version="1.0" encoding="utf-8"?><Relationships xmlns="http://schemas.openxmlformats.org/package/2006/relationships"><Relationship Type="http://schemas.openxmlformats.org/officeDocument/2006/relationships/slide" Target="/ppt/slides/slide3.xml" Id="R6639568a96194ce5" /><Relationship Type="http://schemas.openxmlformats.org/officeDocument/2006/relationships/notesMaster" Target="/ppt/notesMasters/notesMaster1.xml" Id="Rc00bb05451924c78" /></Relationships>
</file>

<file path=ppt/notesSlides/_rels/notesSlide4.xml.rels>&#65279;<?xml version="1.0" encoding="utf-8"?><Relationships xmlns="http://schemas.openxmlformats.org/package/2006/relationships"><Relationship Type="http://schemas.openxmlformats.org/officeDocument/2006/relationships/slide" Target="/ppt/slides/slide4.xml" Id="R4be6056fe8da448a" /><Relationship Type="http://schemas.openxmlformats.org/officeDocument/2006/relationships/notesMaster" Target="/ppt/notesMasters/notesMaster1.xml" Id="Rab39245d9fbb4c5c" /></Relationships>
</file>

<file path=ppt/notesSlides/_rels/notesSlide5.xml.rels>&#65279;<?xml version="1.0" encoding="utf-8"?><Relationships xmlns="http://schemas.openxmlformats.org/package/2006/relationships"><Relationship Type="http://schemas.openxmlformats.org/officeDocument/2006/relationships/slide" Target="/ppt/slides/slide5.xml" Id="R53f1b2b32dcd49d1" /><Relationship Type="http://schemas.openxmlformats.org/officeDocument/2006/relationships/notesMaster" Target="/ppt/notesMasters/notesMaster1.xml" Id="R71e338d8940840a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2bafdb3afb145c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90e088da5cc46d2" /><Relationship Type="http://schemas.openxmlformats.org/officeDocument/2006/relationships/slideLayout" Target="/ppt/slideLayouts/slideLayout1.xml" Id="R504486266fa04c3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04486266fa04c3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7257bef0ce440e4" /><Relationship Type="http://schemas.openxmlformats.org/officeDocument/2006/relationships/image" Target="/ppt/media/image.png" Id="R64a16e67ece54760" /><Relationship Type="http://schemas.openxmlformats.org/officeDocument/2006/relationships/notesSlide" Target="/ppt/notesSlides/notesSlide1.xml" Id="Rc083c676ed2644b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1473f14a2f8486c" /><Relationship Type="http://schemas.openxmlformats.org/officeDocument/2006/relationships/image" Target="/ppt/media/image2.png" Id="Rccdec1b9f817480f" /><Relationship Type="http://schemas.openxmlformats.org/officeDocument/2006/relationships/notesSlide" Target="/ppt/notesSlides/notesSlide2.xml" Id="Rfb6dba7571f345b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53558621f624588" /><Relationship Type="http://schemas.openxmlformats.org/officeDocument/2006/relationships/image" Target="/ppt/media/image3.png" Id="Rdd9ed12483a64578" /><Relationship Type="http://schemas.openxmlformats.org/officeDocument/2006/relationships/notesSlide" Target="/ppt/notesSlides/notesSlide3.xml" Id="Rb01429dd91d64e8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4487dd84cd343e9" /><Relationship Type="http://schemas.openxmlformats.org/officeDocument/2006/relationships/image" Target="/ppt/media/image.jpeg" Id="Re595d417dab64703" /><Relationship Type="http://schemas.openxmlformats.org/officeDocument/2006/relationships/notesSlide" Target="/ppt/notesSlides/notesSlide4.xml" Id="Rb2e8ae77e80447a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9f0740136ea45d9" /><Relationship Type="http://schemas.openxmlformats.org/officeDocument/2006/relationships/notesSlide" Target="/ppt/notesSlides/notesSlide5.xml" Id="R4486ffacfae14a6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4a16e67ece54760"/>
          <a:stretch xmlns:a="http://schemas.openxmlformats.org/drawingml/2006/main"/>
        </p:blipFill>
        <p:spPr>
          <a:xfrm xmlns:a="http://schemas.openxmlformats.org/drawingml/2006/main">
            <a:off x="6667500" y="1294254"/>
            <a:ext cx="5524500" cy="4269491"/>
          </a:xfrm>
          <a:prstGeom xmlns:a="http://schemas.openxmlformats.org/drawingml/2006/main" prst="rect">
            <a:avLst/>
          </a:prstGeom>
        </p:spPr>
      </p:pic>
      <p:sp>
        <p:nvSpPr>
          <p:cNvPr id="2" name="cover-accent">
            <a:extLst xmlns:a="http://schemas.openxmlformats.org/drawingml/2006/main">
              <a:ext uri="{FF2B5EF4-FFF2-40B4-BE49-F238E27FC236}">
                <a16:creationId xmlns:a16="http://schemas.microsoft.com/office/drawing/2014/main" id="{73CFEFC0-5222-4F7C-9D18-DEF6BFB20D9A}"/>
              </a:ext>
            </a:extLst>
          </p:cNvPr>
          <p:cNvSpPr>
            <a:spLocks xmlns:a="http://schemas.openxmlformats.org/drawingml/2006/main" noGrp="1"/>
          </p:cNvSpPr>
          <p:nvPr/>
        </p:nvSpPr>
        <p:spPr>
          <a:xfrm xmlns:a="http://schemas.openxmlformats.org/drawingml/2006/main">
            <a:off x="6286500" y="0"/>
            <a:ext cx="381000" cy="685800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3" name="cover-eyebrow">
            <a:extLst xmlns:a="http://schemas.openxmlformats.org/drawingml/2006/main">
              <a:ext uri="{FF2B5EF4-FFF2-40B4-BE49-F238E27FC236}">
                <a16:creationId xmlns:a16="http://schemas.microsoft.com/office/drawing/2014/main" id="{62D0C533-651B-414A-BBBF-363046807D60}"/>
              </a:ext>
            </a:extLst>
          </p:cNvPr>
          <p:cNvSpPr>
            <a:spLocks xmlns:a="http://schemas.openxmlformats.org/drawingml/2006/main" noGrp="1"/>
          </p:cNvSpPr>
          <p:nvPr/>
        </p:nvSpPr>
        <p:spPr>
          <a:xfrm xmlns:a="http://schemas.openxmlformats.org/drawingml/2006/main">
            <a:off x="571500" y="68580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0B5FAD"/>
                </a:solidFill>
                <a:latin typeface="Arial"/>
                <a:ea typeface="Arial"/>
                <a:cs typeface="Arial"/>
              </a:defRPr>
            </a:pPr>
            <a:r>
              <a:rPr sz="1350" b="1">
                <a:solidFill>
                  <a:srgbClr val="0B5FAD"/>
                </a:solidFill>
                <a:latin typeface="Arial"/>
                <a:ea typeface="Arial"/>
                <a:cs typeface="Arial"/>
              </a:rPr>
              <a:t>MODULE 8 OF 10 · WEEKS 15–16</a:t>
            </a:r>
          </a:p>
        </p:txBody>
      </p:sp>
      <p:sp>
        <p:nvSpPr>
          <p:cNvPr id="4" name="cover-title">
            <a:extLst xmlns:a="http://schemas.openxmlformats.org/drawingml/2006/main">
              <a:ext uri="{FF2B5EF4-FFF2-40B4-BE49-F238E27FC236}">
                <a16:creationId xmlns:a16="http://schemas.microsoft.com/office/drawing/2014/main" id="{BCEBDF2D-20B7-4F02-8198-059853F9C624}"/>
              </a:ext>
            </a:extLst>
          </p:cNvPr>
          <p:cNvSpPr>
            <a:spLocks xmlns:a="http://schemas.openxmlformats.org/drawingml/2006/main" noGrp="1"/>
          </p:cNvSpPr>
          <p:nvPr/>
        </p:nvSpPr>
        <p:spPr>
          <a:xfrm xmlns:a="http://schemas.openxmlformats.org/drawingml/2006/main">
            <a:off x="571500" y="1504950"/>
            <a:ext cx="52387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4200" b="1">
                <a:solidFill>
                  <a:srgbClr val="10263D"/>
                </a:solidFill>
                <a:latin typeface="Arial"/>
                <a:ea typeface="Arial"/>
                <a:cs typeface="Arial"/>
              </a:defRPr>
            </a:pPr>
            <a:r>
              <a:rPr sz="4200" b="1">
                <a:solidFill>
                  <a:srgbClr val="10263D"/>
                </a:solidFill>
                <a:latin typeface="Arial"/>
                <a:ea typeface="Arial"/>
                <a:cs typeface="Arial"/>
              </a:rPr>
              <a:t>Design, drawings and timber technology</a:t>
            </a:r>
          </a:p>
        </p:txBody>
      </p:sp>
      <p:sp>
        <p:nvSpPr>
          <p:cNvPr id="5" name="cover-subtitle">
            <a:extLst xmlns:a="http://schemas.openxmlformats.org/drawingml/2006/main">
              <a:ext uri="{FF2B5EF4-FFF2-40B4-BE49-F238E27FC236}">
                <a16:creationId xmlns:a16="http://schemas.microsoft.com/office/drawing/2014/main" id="{1BD41932-4112-4755-8F70-383582A046FE}"/>
              </a:ext>
            </a:extLst>
          </p:cNvPr>
          <p:cNvSpPr>
            <a:spLocks xmlns:a="http://schemas.openxmlformats.org/drawingml/2006/main" noGrp="1"/>
          </p:cNvSpPr>
          <p:nvPr/>
        </p:nvSpPr>
        <p:spPr>
          <a:xfrm xmlns:a="http://schemas.openxmlformats.org/drawingml/2006/main">
            <a:off x="571500" y="4095750"/>
            <a:ext cx="5143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a:solidFill>
                  <a:srgbClr val="526579"/>
                </a:solidFill>
                <a:latin typeface="Arial"/>
                <a:ea typeface="Arial"/>
                <a:cs typeface="Arial"/>
              </a:defRPr>
            </a:pPr>
            <a:r>
              <a:rPr sz="1800">
                <a:solidFill>
                  <a:srgbClr val="526579"/>
                </a:solidFill>
                <a:latin typeface="Arial"/>
                <a:ea typeface="Arial"/>
                <a:cs typeface="Arial"/>
              </a:rPr>
              <a:t>Use the Clock drawing, the three theory sections and the module evidence in sequence.</a:t>
            </a:r>
          </a:p>
        </p:txBody>
      </p:sp>
      <p:sp>
        <p:nvSpPr>
          <p:cNvPr id="6" name="cover-footer">
            <a:extLst xmlns:a="http://schemas.openxmlformats.org/drawingml/2006/main">
              <a:ext uri="{FF2B5EF4-FFF2-40B4-BE49-F238E27FC236}">
                <a16:creationId xmlns:a16="http://schemas.microsoft.com/office/drawing/2014/main" id="{A06C053A-7DE3-439D-914E-B0D34C98B646}"/>
              </a:ext>
            </a:extLst>
          </p:cNvPr>
          <p:cNvSpPr>
            <a:spLocks xmlns:a="http://schemas.openxmlformats.org/drawingml/2006/main" noGrp="1"/>
          </p:cNvSpPr>
          <p:nvPr/>
        </p:nvSpPr>
        <p:spPr>
          <a:xfrm xmlns:a="http://schemas.openxmlformats.org/drawingml/2006/main">
            <a:off x="571500" y="615315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526579"/>
                </a:solidFill>
                <a:latin typeface="Arial"/>
                <a:ea typeface="Arial"/>
                <a:cs typeface="Arial"/>
              </a:defRPr>
            </a:pPr>
            <a:r>
              <a:rPr sz="1200" b="1">
                <a:solidFill>
                  <a:srgbClr val="526579"/>
                </a:solidFill>
                <a:latin typeface="Arial"/>
                <a:ea typeface="Arial"/>
                <a:cs typeface="Arial"/>
              </a:rPr>
              <a:t>Clock Guided Course</a:t>
            </a:r>
          </a:p>
        </p:txBody>
      </p:sp>
    </p:spTree>
    <p:extLst>
      <p:ext uri="{BB962C8B-B14F-4D97-AF65-F5344CB8AC3E}">
        <p14:creationId xmlns:p14="http://schemas.microsoft.com/office/powerpoint/2010/main" val="112451020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label-2">
            <a:extLst xmlns:a="http://schemas.openxmlformats.org/drawingml/2006/main">
              <a:ext uri="{FF2B5EF4-FFF2-40B4-BE49-F238E27FC236}">
                <a16:creationId xmlns:a16="http://schemas.microsoft.com/office/drawing/2014/main" id="{CE58EE99-6852-42F4-A9F3-F88B0271FACA}"/>
              </a:ext>
            </a:extLst>
          </p:cNvPr>
          <p:cNvSpPr>
            <a:spLocks xmlns:a="http://schemas.openxmlformats.org/drawingml/2006/main" noGrp="1"/>
          </p:cNvSpPr>
          <p:nvPr/>
        </p:nvSpPr>
        <p:spPr>
          <a:xfrm xmlns:a="http://schemas.openxmlformats.org/drawingml/2006/main">
            <a:off x="552450" y="323850"/>
            <a:ext cx="809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B5FAD"/>
                </a:solidFill>
                <a:latin typeface="Arial"/>
                <a:ea typeface="Arial"/>
                <a:cs typeface="Arial"/>
              </a:defRPr>
            </a:pPr>
            <a:r>
              <a:rPr sz="1200" b="1">
                <a:solidFill>
                  <a:srgbClr val="0B5FAD"/>
                </a:solidFill>
                <a:latin typeface="Arial"/>
                <a:ea typeface="Arial"/>
                <a:cs typeface="Arial"/>
              </a:rPr>
              <a:t>MODULE 8 OF 10 · WEEKS 15–16</a:t>
            </a:r>
          </a:p>
        </p:txBody>
      </p:sp>
      <p:sp>
        <p:nvSpPr>
          <p:cNvPr id="2" name="page-2">
            <a:extLst xmlns:a="http://schemas.openxmlformats.org/drawingml/2006/main">
              <a:ext uri="{FF2B5EF4-FFF2-40B4-BE49-F238E27FC236}">
                <a16:creationId xmlns:a16="http://schemas.microsoft.com/office/drawing/2014/main" id="{EF634AD9-5CFF-4B75-B834-A4FCB5B2FD2F}"/>
              </a:ext>
            </a:extLst>
          </p:cNvPr>
          <p:cNvSpPr>
            <a:spLocks xmlns:a="http://schemas.openxmlformats.org/drawingml/2006/main" noGrp="1"/>
          </p:cNvSpPr>
          <p:nvPr/>
        </p:nvSpPr>
        <p:spPr>
          <a:xfrm xmlns:a="http://schemas.openxmlformats.org/drawingml/2006/main">
            <a:off x="11287125" y="63246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a:solidFill>
                  <a:srgbClr val="526579"/>
                </a:solidFill>
                <a:latin typeface="Arial"/>
                <a:ea typeface="Arial"/>
                <a:cs typeface="Arial"/>
              </a:defRPr>
            </a:pPr>
            <a:r>
              <a:rPr sz="1050">
                <a:solidFill>
                  <a:srgbClr val="526579"/>
                </a:solidFill>
                <a:latin typeface="Arial"/>
                <a:ea typeface="Arial"/>
                <a:cs typeface="Arial"/>
              </a:rPr>
              <a:t>2</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ccdec1b9f817480f"/>
          <a:stretch xmlns:a="http://schemas.openxmlformats.org/drawingml/2006/main"/>
        </p:blipFill>
        <p:spPr>
          <a:xfrm xmlns:a="http://schemas.openxmlformats.org/drawingml/2006/main">
            <a:off x="7323991" y="857250"/>
            <a:ext cx="4116267" cy="5143500"/>
          </a:xfrm>
          <a:prstGeom xmlns:a="http://schemas.openxmlformats.org/drawingml/2006/main" prst="rect">
            <a:avLst/>
          </a:prstGeom>
        </p:spPr>
      </p:pic>
      <p:sp>
        <p:nvSpPr>
          <p:cNvPr id="4" name="topic-title-0">
            <a:extLst xmlns:a="http://schemas.openxmlformats.org/drawingml/2006/main">
              <a:ext uri="{FF2B5EF4-FFF2-40B4-BE49-F238E27FC236}">
                <a16:creationId xmlns:a16="http://schemas.microsoft.com/office/drawing/2014/main" id="{85E34C13-0601-4826-8FDD-A6BA486C6D80}"/>
              </a:ext>
            </a:extLst>
          </p:cNvPr>
          <p:cNvSpPr>
            <a:spLocks xmlns:a="http://schemas.openxmlformats.org/drawingml/2006/main" noGrp="1"/>
          </p:cNvSpPr>
          <p:nvPr/>
        </p:nvSpPr>
        <p:spPr>
          <a:xfrm xmlns:a="http://schemas.openxmlformats.org/drawingml/2006/main">
            <a:off x="590550" y="1104900"/>
            <a:ext cx="495300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925" b="1">
                <a:solidFill>
                  <a:srgbClr val="10263D"/>
                </a:solidFill>
                <a:latin typeface="Arial"/>
                <a:ea typeface="Arial"/>
                <a:cs typeface="Arial"/>
              </a:defRPr>
            </a:pPr>
            <a:r>
              <a:rPr sz="2925" b="1">
                <a:solidFill>
                  <a:srgbClr val="10263D"/>
                </a:solidFill>
                <a:latin typeface="Arial"/>
                <a:ea typeface="Arial"/>
                <a:cs typeface="Arial"/>
              </a:rPr>
              <a:t>Applying design principles to the Clock</a:t>
            </a:r>
          </a:p>
        </p:txBody>
      </p:sp>
      <p:sp>
        <p:nvSpPr>
          <p:cNvPr id="5" name="topic-body-0">
            <a:extLst xmlns:a="http://schemas.openxmlformats.org/drawingml/2006/main">
              <a:ext uri="{FF2B5EF4-FFF2-40B4-BE49-F238E27FC236}">
                <a16:creationId xmlns:a16="http://schemas.microsoft.com/office/drawing/2014/main" id="{49E8212A-8990-442D-9BBE-0800CFEEC92D}"/>
              </a:ext>
            </a:extLst>
          </p:cNvPr>
          <p:cNvSpPr>
            <a:spLocks xmlns:a="http://schemas.openxmlformats.org/drawingml/2006/main" noGrp="1"/>
          </p:cNvSpPr>
          <p:nvPr/>
        </p:nvSpPr>
        <p:spPr>
          <a:xfrm xmlns:a="http://schemas.openxmlformats.org/drawingml/2006/main">
            <a:off x="590550" y="2838450"/>
            <a:ext cx="4857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526579"/>
                </a:solidFill>
                <a:latin typeface="Arial"/>
                <a:ea typeface="Arial"/>
                <a:cs typeface="Arial"/>
              </a:defRPr>
            </a:pPr>
            <a:r>
              <a:rPr sz="1575">
                <a:solidFill>
                  <a:srgbClr val="526579"/>
                </a:solidFill>
                <a:latin typeface="Arial"/>
                <a:ea typeface="Arial"/>
                <a:cs typeface="Arial"/>
              </a:rPr>
              <a:t>Design principles help you judge whether the Clock looks resolved and works as intended. They are not decorations added at the end. They guide decisions about the visible face, carcass, chamfered edges, hidden drawer and finished surfaces.</a:t>
            </a:r>
          </a:p>
        </p:txBody>
      </p:sp>
      <p:sp>
        <p:nvSpPr>
          <p:cNvPr id="6" name="check-rule-0">
            <a:extLst xmlns:a="http://schemas.openxmlformats.org/drawingml/2006/main">
              <a:ext uri="{FF2B5EF4-FFF2-40B4-BE49-F238E27FC236}">
                <a16:creationId xmlns:a16="http://schemas.microsoft.com/office/drawing/2014/main" id="{F2333039-F9D4-4711-AFCC-1473015873B1}"/>
              </a:ext>
            </a:extLst>
          </p:cNvPr>
          <p:cNvSpPr>
            <a:spLocks xmlns:a="http://schemas.openxmlformats.org/drawingml/2006/main" noGrp="1"/>
          </p:cNvSpPr>
          <p:nvPr/>
        </p:nvSpPr>
        <p:spPr>
          <a:xfrm xmlns:a="http://schemas.openxmlformats.org/drawingml/2006/main">
            <a:off x="590550" y="4762500"/>
            <a:ext cx="781050" cy="571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7" name="topic-check-0">
            <a:extLst xmlns:a="http://schemas.openxmlformats.org/drawingml/2006/main">
              <a:ext uri="{FF2B5EF4-FFF2-40B4-BE49-F238E27FC236}">
                <a16:creationId xmlns:a16="http://schemas.microsoft.com/office/drawing/2014/main" id="{8B9519D7-37D5-4E9C-9ECA-301320574E8D}"/>
              </a:ext>
            </a:extLst>
          </p:cNvPr>
          <p:cNvSpPr>
            <a:spLocks xmlns:a="http://schemas.openxmlformats.org/drawingml/2006/main" noGrp="1"/>
          </p:cNvSpPr>
          <p:nvPr/>
        </p:nvSpPr>
        <p:spPr>
          <a:xfrm xmlns:a="http://schemas.openxmlformats.org/drawingml/2006/main">
            <a:off x="590550" y="5029200"/>
            <a:ext cx="48577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10263D"/>
                </a:solidFill>
                <a:latin typeface="Arial"/>
                <a:ea typeface="Arial"/>
                <a:cs typeface="Arial"/>
              </a:defRPr>
            </a:pPr>
            <a:r>
              <a:rPr sz="1575" b="1">
                <a:solidFill>
                  <a:srgbClr val="10263D"/>
                </a:solidFill>
                <a:latin typeface="Arial"/>
                <a:ea typeface="Arial"/>
                <a:cs typeface="Arial"/>
              </a:rPr>
              <a:t>Good design brings proportion, balance, emphasis, unity, contrast and function together while keeping every decision consistent with the brief, approved plans and teacher direction.</a:t>
            </a:r>
          </a:p>
        </p:txBody>
      </p:sp>
    </p:spTree>
    <p:extLst>
      <p:ext uri="{BB962C8B-B14F-4D97-AF65-F5344CB8AC3E}">
        <p14:creationId xmlns:p14="http://schemas.microsoft.com/office/powerpoint/2010/main" val="185018811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label-3">
            <a:extLst xmlns:a="http://schemas.openxmlformats.org/drawingml/2006/main">
              <a:ext uri="{FF2B5EF4-FFF2-40B4-BE49-F238E27FC236}">
                <a16:creationId xmlns:a16="http://schemas.microsoft.com/office/drawing/2014/main" id="{13DCA9E0-664D-4D45-9989-D5D8091C26A4}"/>
              </a:ext>
            </a:extLst>
          </p:cNvPr>
          <p:cNvSpPr>
            <a:spLocks xmlns:a="http://schemas.openxmlformats.org/drawingml/2006/main" noGrp="1"/>
          </p:cNvSpPr>
          <p:nvPr/>
        </p:nvSpPr>
        <p:spPr>
          <a:xfrm xmlns:a="http://schemas.openxmlformats.org/drawingml/2006/main">
            <a:off x="552450" y="323850"/>
            <a:ext cx="809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B5FAD"/>
                </a:solidFill>
                <a:latin typeface="Arial"/>
                <a:ea typeface="Arial"/>
                <a:cs typeface="Arial"/>
              </a:defRPr>
            </a:pPr>
            <a:r>
              <a:rPr sz="1200" b="1">
                <a:solidFill>
                  <a:srgbClr val="0B5FAD"/>
                </a:solidFill>
                <a:latin typeface="Arial"/>
                <a:ea typeface="Arial"/>
                <a:cs typeface="Arial"/>
              </a:rPr>
              <a:t>MODULE 8 OF 10 · WEEKS 15–16</a:t>
            </a:r>
          </a:p>
        </p:txBody>
      </p:sp>
      <p:sp>
        <p:nvSpPr>
          <p:cNvPr id="2" name="page-3">
            <a:extLst xmlns:a="http://schemas.openxmlformats.org/drawingml/2006/main">
              <a:ext uri="{FF2B5EF4-FFF2-40B4-BE49-F238E27FC236}">
                <a16:creationId xmlns:a16="http://schemas.microsoft.com/office/drawing/2014/main" id="{24282A92-C682-4E83-BF79-5EEC9EA402D7}"/>
              </a:ext>
            </a:extLst>
          </p:cNvPr>
          <p:cNvSpPr>
            <a:spLocks xmlns:a="http://schemas.openxmlformats.org/drawingml/2006/main" noGrp="1"/>
          </p:cNvSpPr>
          <p:nvPr/>
        </p:nvSpPr>
        <p:spPr>
          <a:xfrm xmlns:a="http://schemas.openxmlformats.org/drawingml/2006/main">
            <a:off x="11287125" y="63246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a:solidFill>
                  <a:srgbClr val="526579"/>
                </a:solidFill>
                <a:latin typeface="Arial"/>
                <a:ea typeface="Arial"/>
                <a:cs typeface="Arial"/>
              </a:defRPr>
            </a:pPr>
            <a:r>
              <a:rPr sz="1050">
                <a:solidFill>
                  <a:srgbClr val="526579"/>
                </a:solidFill>
                <a:latin typeface="Arial"/>
                <a:ea typeface="Arial"/>
                <a:cs typeface="Arial"/>
              </a:rPr>
              <a:t>3</a:t>
            </a:r>
          </a:p>
        </p:txBody>
      </p:sp>
      <p:sp>
        <p:nvSpPr>
          <p:cNvPr id="3" name="accent-1">
            <a:extLst xmlns:a="http://schemas.openxmlformats.org/drawingml/2006/main">
              <a:ext uri="{FF2B5EF4-FFF2-40B4-BE49-F238E27FC236}">
                <a16:creationId xmlns:a16="http://schemas.microsoft.com/office/drawing/2014/main" id="{9923BC3C-697A-406D-9C56-5C6F79EB6FCD}"/>
              </a:ext>
            </a:extLst>
          </p:cNvPr>
          <p:cNvSpPr>
            <a:spLocks xmlns:a="http://schemas.openxmlformats.org/drawingml/2006/main" noGrp="1"/>
          </p:cNvSpPr>
          <p:nvPr/>
        </p:nvSpPr>
        <p:spPr>
          <a:xfrm xmlns:a="http://schemas.openxmlformats.org/drawingml/2006/main">
            <a:off x="5905500" y="0"/>
            <a:ext cx="266700" cy="685800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dd9ed12483a64578"/>
          <a:stretch xmlns:a="http://schemas.openxmlformats.org/drawingml/2006/main"/>
        </p:blipFill>
        <p:spPr>
          <a:xfrm xmlns:a="http://schemas.openxmlformats.org/drawingml/2006/main">
            <a:off x="0" y="1257448"/>
            <a:ext cx="5619750" cy="4343103"/>
          </a:xfrm>
          <a:prstGeom xmlns:a="http://schemas.openxmlformats.org/drawingml/2006/main" prst="rect">
            <a:avLst/>
          </a:prstGeom>
        </p:spPr>
      </p:pic>
      <p:sp>
        <p:nvSpPr>
          <p:cNvPr id="5" name="topic-title-1">
            <a:extLst xmlns:a="http://schemas.openxmlformats.org/drawingml/2006/main">
              <a:ext uri="{FF2B5EF4-FFF2-40B4-BE49-F238E27FC236}">
                <a16:creationId xmlns:a16="http://schemas.microsoft.com/office/drawing/2014/main" id="{4CEE3AAC-C4D8-4CD0-94F7-119B6B1620C7}"/>
              </a:ext>
            </a:extLst>
          </p:cNvPr>
          <p:cNvSpPr>
            <a:spLocks xmlns:a="http://schemas.openxmlformats.org/drawingml/2006/main" noGrp="1"/>
          </p:cNvSpPr>
          <p:nvPr/>
        </p:nvSpPr>
        <p:spPr>
          <a:xfrm xmlns:a="http://schemas.openxmlformats.org/drawingml/2006/main">
            <a:off x="6572250" y="1104900"/>
            <a:ext cx="495300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925" b="1">
                <a:solidFill>
                  <a:srgbClr val="10263D"/>
                </a:solidFill>
                <a:latin typeface="Arial"/>
                <a:ea typeface="Arial"/>
                <a:cs typeface="Arial"/>
              </a:defRPr>
            </a:pPr>
            <a:r>
              <a:rPr sz="2925" b="1">
                <a:solidFill>
                  <a:srgbClr val="10263D"/>
                </a:solidFill>
                <a:latin typeface="Arial"/>
                <a:ea typeface="Arial"/>
                <a:cs typeface="Arial"/>
              </a:rPr>
              <a:t>Technical sketches, orthographic views and clear communication</a:t>
            </a:r>
          </a:p>
        </p:txBody>
      </p:sp>
      <p:sp>
        <p:nvSpPr>
          <p:cNvPr id="6" name="topic-body-1">
            <a:extLst xmlns:a="http://schemas.openxmlformats.org/drawingml/2006/main">
              <a:ext uri="{FF2B5EF4-FFF2-40B4-BE49-F238E27FC236}">
                <a16:creationId xmlns:a16="http://schemas.microsoft.com/office/drawing/2014/main" id="{CF9ADCA3-A354-4F94-B08F-A0EC34504BDB}"/>
              </a:ext>
            </a:extLst>
          </p:cNvPr>
          <p:cNvSpPr>
            <a:spLocks xmlns:a="http://schemas.openxmlformats.org/drawingml/2006/main" noGrp="1"/>
          </p:cNvSpPr>
          <p:nvPr/>
        </p:nvSpPr>
        <p:spPr>
          <a:xfrm xmlns:a="http://schemas.openxmlformats.org/drawingml/2006/main">
            <a:off x="6572250" y="2838450"/>
            <a:ext cx="4857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526579"/>
                </a:solidFill>
                <a:latin typeface="Arial"/>
                <a:ea typeface="Arial"/>
                <a:cs typeface="Arial"/>
              </a:defRPr>
            </a:pPr>
            <a:r>
              <a:rPr sz="1575">
                <a:solidFill>
                  <a:srgbClr val="526579"/>
                </a:solidFill>
                <a:latin typeface="Arial"/>
                <a:ea typeface="Arial"/>
                <a:cs typeface="Arial"/>
              </a:rPr>
              <a:t>Technical drawings help you communicate what the Clock should look like, how its parts relate to one another and what must be checked during construction. A freehand concept sketch is useful at the beginning because it records an idea quickly.</a:t>
            </a:r>
          </a:p>
        </p:txBody>
      </p:sp>
      <p:sp>
        <p:nvSpPr>
          <p:cNvPr id="7" name="check-rule-1">
            <a:extLst xmlns:a="http://schemas.openxmlformats.org/drawingml/2006/main">
              <a:ext uri="{FF2B5EF4-FFF2-40B4-BE49-F238E27FC236}">
                <a16:creationId xmlns:a16="http://schemas.microsoft.com/office/drawing/2014/main" id="{ABCF369B-DB15-4CDA-8316-176EDA65771B}"/>
              </a:ext>
            </a:extLst>
          </p:cNvPr>
          <p:cNvSpPr>
            <a:spLocks xmlns:a="http://schemas.openxmlformats.org/drawingml/2006/main" noGrp="1"/>
          </p:cNvSpPr>
          <p:nvPr/>
        </p:nvSpPr>
        <p:spPr>
          <a:xfrm xmlns:a="http://schemas.openxmlformats.org/drawingml/2006/main">
            <a:off x="6572250" y="4762500"/>
            <a:ext cx="781050" cy="571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8" name="topic-check-1">
            <a:extLst xmlns:a="http://schemas.openxmlformats.org/drawingml/2006/main">
              <a:ext uri="{FF2B5EF4-FFF2-40B4-BE49-F238E27FC236}">
                <a16:creationId xmlns:a16="http://schemas.microsoft.com/office/drawing/2014/main" id="{D6456E2D-EC0B-426E-B7D0-F06A67483A41}"/>
              </a:ext>
            </a:extLst>
          </p:cNvPr>
          <p:cNvSpPr>
            <a:spLocks xmlns:a="http://schemas.openxmlformats.org/drawingml/2006/main" noGrp="1"/>
          </p:cNvSpPr>
          <p:nvPr/>
        </p:nvSpPr>
        <p:spPr>
          <a:xfrm xmlns:a="http://schemas.openxmlformats.org/drawingml/2006/main">
            <a:off x="6572250" y="5029200"/>
            <a:ext cx="48577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10263D"/>
                </a:solidFill>
                <a:latin typeface="Arial"/>
                <a:ea typeface="Arial"/>
                <a:cs typeface="Arial"/>
              </a:defRPr>
            </a:pPr>
            <a:r>
              <a:rPr sz="1575" b="1">
                <a:solidFill>
                  <a:srgbClr val="10263D"/>
                </a:solidFill>
                <a:latin typeface="Arial"/>
                <a:ea typeface="Arial"/>
                <a:cs typeface="Arial"/>
              </a:rPr>
              <a:t>Clear sketches, accurate reading of written dimensions and honest as-built records allow your design decisions and construction results to be understood, checked and assessed.</a:t>
            </a:r>
          </a:p>
        </p:txBody>
      </p:sp>
    </p:spTree>
    <p:extLst>
      <p:ext uri="{BB962C8B-B14F-4D97-AF65-F5344CB8AC3E}">
        <p14:creationId xmlns:p14="http://schemas.microsoft.com/office/powerpoint/2010/main" val="33570469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label-4">
            <a:extLst xmlns:a="http://schemas.openxmlformats.org/drawingml/2006/main">
              <a:ext uri="{FF2B5EF4-FFF2-40B4-BE49-F238E27FC236}">
                <a16:creationId xmlns:a16="http://schemas.microsoft.com/office/drawing/2014/main" id="{04582AE6-0027-4002-9065-B29E6819486C}"/>
              </a:ext>
            </a:extLst>
          </p:cNvPr>
          <p:cNvSpPr>
            <a:spLocks xmlns:a="http://schemas.openxmlformats.org/drawingml/2006/main" noGrp="1"/>
          </p:cNvSpPr>
          <p:nvPr/>
        </p:nvSpPr>
        <p:spPr>
          <a:xfrm xmlns:a="http://schemas.openxmlformats.org/drawingml/2006/main">
            <a:off x="552450" y="323850"/>
            <a:ext cx="809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B5FAD"/>
                </a:solidFill>
                <a:latin typeface="Arial"/>
                <a:ea typeface="Arial"/>
                <a:cs typeface="Arial"/>
              </a:defRPr>
            </a:pPr>
            <a:r>
              <a:rPr sz="1200" b="1">
                <a:solidFill>
                  <a:srgbClr val="0B5FAD"/>
                </a:solidFill>
                <a:latin typeface="Arial"/>
                <a:ea typeface="Arial"/>
                <a:cs typeface="Arial"/>
              </a:rPr>
              <a:t>MODULE 8 OF 10 · WEEKS 15–16</a:t>
            </a:r>
          </a:p>
        </p:txBody>
      </p:sp>
      <p:sp>
        <p:nvSpPr>
          <p:cNvPr id="2" name="page-4">
            <a:extLst xmlns:a="http://schemas.openxmlformats.org/drawingml/2006/main">
              <a:ext uri="{FF2B5EF4-FFF2-40B4-BE49-F238E27FC236}">
                <a16:creationId xmlns:a16="http://schemas.microsoft.com/office/drawing/2014/main" id="{755E0967-A6BE-49AD-910B-C598C362ECE0}"/>
              </a:ext>
            </a:extLst>
          </p:cNvPr>
          <p:cNvSpPr>
            <a:spLocks xmlns:a="http://schemas.openxmlformats.org/drawingml/2006/main" noGrp="1"/>
          </p:cNvSpPr>
          <p:nvPr/>
        </p:nvSpPr>
        <p:spPr>
          <a:xfrm xmlns:a="http://schemas.openxmlformats.org/drawingml/2006/main">
            <a:off x="11287125" y="63246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a:solidFill>
                  <a:srgbClr val="526579"/>
                </a:solidFill>
                <a:latin typeface="Arial"/>
                <a:ea typeface="Arial"/>
                <a:cs typeface="Arial"/>
              </a:defRPr>
            </a:pPr>
            <a:r>
              <a:rPr sz="1050">
                <a:solidFill>
                  <a:srgbClr val="526579"/>
                </a:solidFill>
                <a:latin typeface="Arial"/>
                <a:ea typeface="Arial"/>
                <a:cs typeface="Arial"/>
              </a:rPr>
              <a:t>4</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e595d417dab64703"/>
          <a:stretch xmlns:a="http://schemas.openxmlformats.org/drawingml/2006/main"/>
        </p:blipFill>
        <p:spPr>
          <a:xfrm xmlns:a="http://schemas.openxmlformats.org/drawingml/2006/main">
            <a:off x="6572250" y="1006694"/>
            <a:ext cx="5619750" cy="4844612"/>
          </a:xfrm>
          <a:prstGeom xmlns:a="http://schemas.openxmlformats.org/drawingml/2006/main" prst="rect">
            <a:avLst/>
          </a:prstGeom>
        </p:spPr>
      </p:pic>
      <p:sp>
        <p:nvSpPr>
          <p:cNvPr id="4" name="topic-title-2">
            <a:extLst xmlns:a="http://schemas.openxmlformats.org/drawingml/2006/main">
              <a:ext uri="{FF2B5EF4-FFF2-40B4-BE49-F238E27FC236}">
                <a16:creationId xmlns:a16="http://schemas.microsoft.com/office/drawing/2014/main" id="{626289EF-D3D1-4230-AC72-232D1CED82C5}"/>
              </a:ext>
            </a:extLst>
          </p:cNvPr>
          <p:cNvSpPr>
            <a:spLocks xmlns:a="http://schemas.openxmlformats.org/drawingml/2006/main" noGrp="1"/>
          </p:cNvSpPr>
          <p:nvPr/>
        </p:nvSpPr>
        <p:spPr>
          <a:xfrm xmlns:a="http://schemas.openxmlformats.org/drawingml/2006/main">
            <a:off x="590550" y="1104900"/>
            <a:ext cx="495300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925" b="1">
                <a:solidFill>
                  <a:srgbClr val="10263D"/>
                </a:solidFill>
                <a:latin typeface="Arial"/>
                <a:ea typeface="Arial"/>
                <a:cs typeface="Arial"/>
              </a:defRPr>
            </a:pPr>
            <a:r>
              <a:rPr sz="2925" b="1">
                <a:solidFill>
                  <a:srgbClr val="10263D"/>
                </a:solidFill>
                <a:latin typeface="Arial"/>
                <a:ea typeface="Arial"/>
                <a:cs typeface="Arial"/>
              </a:rPr>
              <a:t>Current and emerging timber technologies connected to the Clock</a:t>
            </a:r>
          </a:p>
        </p:txBody>
      </p:sp>
      <p:sp>
        <p:nvSpPr>
          <p:cNvPr id="5" name="topic-body-2">
            <a:extLst xmlns:a="http://schemas.openxmlformats.org/drawingml/2006/main">
              <a:ext uri="{FF2B5EF4-FFF2-40B4-BE49-F238E27FC236}">
                <a16:creationId xmlns:a16="http://schemas.microsoft.com/office/drawing/2014/main" id="{A16B04B9-5365-40CD-909A-8DDD7FB19973}"/>
              </a:ext>
            </a:extLst>
          </p:cNvPr>
          <p:cNvSpPr>
            <a:spLocks xmlns:a="http://schemas.openxmlformats.org/drawingml/2006/main" noGrp="1"/>
          </p:cNvSpPr>
          <p:nvPr/>
        </p:nvSpPr>
        <p:spPr>
          <a:xfrm xmlns:a="http://schemas.openxmlformats.org/drawingml/2006/main">
            <a:off x="590550" y="2838450"/>
            <a:ext cx="4857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526579"/>
                </a:solidFill>
                <a:latin typeface="Arial"/>
                <a:ea typeface="Arial"/>
                <a:cs typeface="Arial"/>
              </a:defRPr>
            </a:pPr>
            <a:r>
              <a:rPr sz="1575">
                <a:solidFill>
                  <a:srgbClr val="526579"/>
                </a:solidFill>
                <a:latin typeface="Arial"/>
                <a:ea typeface="Arial"/>
                <a:cs typeface="Arial"/>
              </a:rPr>
              <a:t>Timber products can be planned and manufactured using hand processes, digital technologies or a combination of both. For the Clock, traditional methods may include freehand sketches, written measurements, careful marking and checking components against an approved…</a:t>
            </a:r>
          </a:p>
        </p:txBody>
      </p:sp>
      <p:sp>
        <p:nvSpPr>
          <p:cNvPr id="6" name="check-rule-2">
            <a:extLst xmlns:a="http://schemas.openxmlformats.org/drawingml/2006/main">
              <a:ext uri="{FF2B5EF4-FFF2-40B4-BE49-F238E27FC236}">
                <a16:creationId xmlns:a16="http://schemas.microsoft.com/office/drawing/2014/main" id="{E98B6D65-282A-4998-86D9-47AF2D358788}"/>
              </a:ext>
            </a:extLst>
          </p:cNvPr>
          <p:cNvSpPr>
            <a:spLocks xmlns:a="http://schemas.openxmlformats.org/drawingml/2006/main" noGrp="1"/>
          </p:cNvSpPr>
          <p:nvPr/>
        </p:nvSpPr>
        <p:spPr>
          <a:xfrm xmlns:a="http://schemas.openxmlformats.org/drawingml/2006/main">
            <a:off x="590550" y="4762500"/>
            <a:ext cx="781050" cy="571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7" name="topic-check-2">
            <a:extLst xmlns:a="http://schemas.openxmlformats.org/drawingml/2006/main">
              <a:ext uri="{FF2B5EF4-FFF2-40B4-BE49-F238E27FC236}">
                <a16:creationId xmlns:a16="http://schemas.microsoft.com/office/drawing/2014/main" id="{EC974ED6-21EC-4659-BBA0-C1E043F5FEC6}"/>
              </a:ext>
            </a:extLst>
          </p:cNvPr>
          <p:cNvSpPr>
            <a:spLocks xmlns:a="http://schemas.openxmlformats.org/drawingml/2006/main" noGrp="1"/>
          </p:cNvSpPr>
          <p:nvPr/>
        </p:nvSpPr>
        <p:spPr>
          <a:xfrm xmlns:a="http://schemas.openxmlformats.org/drawingml/2006/main">
            <a:off x="590550" y="5029200"/>
            <a:ext cx="48577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10263D"/>
                </a:solidFill>
                <a:latin typeface="Arial"/>
                <a:ea typeface="Arial"/>
                <a:cs typeface="Arial"/>
              </a:defRPr>
            </a:pPr>
            <a:r>
              <a:rPr sz="1575" b="1">
                <a:solidFill>
                  <a:srgbClr val="10263D"/>
                </a:solidFill>
                <a:latin typeface="Arial"/>
                <a:ea typeface="Arial"/>
                <a:cs typeface="Arial"/>
              </a:rPr>
              <a:t>Evaluate timber technologies by their accuracy, safety, waste, skill requirements and availability—not simply by whether they are new.</a:t>
            </a:r>
          </a:p>
        </p:txBody>
      </p:sp>
    </p:spTree>
    <p:extLst>
      <p:ext uri="{BB962C8B-B14F-4D97-AF65-F5344CB8AC3E}">
        <p14:creationId xmlns:p14="http://schemas.microsoft.com/office/powerpoint/2010/main" val="143605155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label-5">
            <a:extLst xmlns:a="http://schemas.openxmlformats.org/drawingml/2006/main">
              <a:ext uri="{FF2B5EF4-FFF2-40B4-BE49-F238E27FC236}">
                <a16:creationId xmlns:a16="http://schemas.microsoft.com/office/drawing/2014/main" id="{09783C1D-BC61-4E3B-B94D-6F5C0893C861}"/>
              </a:ext>
            </a:extLst>
          </p:cNvPr>
          <p:cNvSpPr>
            <a:spLocks xmlns:a="http://schemas.openxmlformats.org/drawingml/2006/main" noGrp="1"/>
          </p:cNvSpPr>
          <p:nvPr/>
        </p:nvSpPr>
        <p:spPr>
          <a:xfrm xmlns:a="http://schemas.openxmlformats.org/drawingml/2006/main">
            <a:off x="552450" y="323850"/>
            <a:ext cx="809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B5FAD"/>
                </a:solidFill>
                <a:latin typeface="Arial"/>
                <a:ea typeface="Arial"/>
                <a:cs typeface="Arial"/>
              </a:defRPr>
            </a:pPr>
            <a:r>
              <a:rPr sz="1200" b="1">
                <a:solidFill>
                  <a:srgbClr val="0B5FAD"/>
                </a:solidFill>
                <a:latin typeface="Arial"/>
                <a:ea typeface="Arial"/>
                <a:cs typeface="Arial"/>
              </a:rPr>
              <a:t>BEFORE YOU MOVE ON</a:t>
            </a:r>
          </a:p>
        </p:txBody>
      </p:sp>
      <p:sp>
        <p:nvSpPr>
          <p:cNvPr id="2" name="page-5">
            <a:extLst xmlns:a="http://schemas.openxmlformats.org/drawingml/2006/main">
              <a:ext uri="{FF2B5EF4-FFF2-40B4-BE49-F238E27FC236}">
                <a16:creationId xmlns:a16="http://schemas.microsoft.com/office/drawing/2014/main" id="{F1E2E6BC-D9AD-4CC9-84C9-5B50D5B560C0}"/>
              </a:ext>
            </a:extLst>
          </p:cNvPr>
          <p:cNvSpPr>
            <a:spLocks xmlns:a="http://schemas.openxmlformats.org/drawingml/2006/main" noGrp="1"/>
          </p:cNvSpPr>
          <p:nvPr/>
        </p:nvSpPr>
        <p:spPr>
          <a:xfrm xmlns:a="http://schemas.openxmlformats.org/drawingml/2006/main">
            <a:off x="11287125" y="63246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a:solidFill>
                  <a:srgbClr val="526579"/>
                </a:solidFill>
                <a:latin typeface="Arial"/>
                <a:ea typeface="Arial"/>
                <a:cs typeface="Arial"/>
              </a:defRPr>
            </a:pPr>
            <a:r>
              <a:rPr sz="1050">
                <a:solidFill>
                  <a:srgbClr val="526579"/>
                </a:solidFill>
                <a:latin typeface="Arial"/>
                <a:ea typeface="Arial"/>
                <a:cs typeface="Arial"/>
              </a:rPr>
              <a:t>5</a:t>
            </a:r>
          </a:p>
        </p:txBody>
      </p:sp>
      <p:sp>
        <p:nvSpPr>
          <p:cNvPr id="3" name="close-panel">
            <a:extLst xmlns:a="http://schemas.openxmlformats.org/drawingml/2006/main">
              <a:ext uri="{FF2B5EF4-FFF2-40B4-BE49-F238E27FC236}">
                <a16:creationId xmlns:a16="http://schemas.microsoft.com/office/drawing/2014/main" id="{D4E26B6A-E7A2-4755-9A23-4AAB5400AFE4}"/>
              </a:ext>
            </a:extLst>
          </p:cNvPr>
          <p:cNvSpPr>
            <a:spLocks xmlns:a="http://schemas.openxmlformats.org/drawingml/2006/main" noGrp="1"/>
          </p:cNvSpPr>
          <p:nvPr/>
        </p:nvSpPr>
        <p:spPr>
          <a:xfrm xmlns:a="http://schemas.openxmlformats.org/drawingml/2006/main">
            <a:off x="552450" y="1428750"/>
            <a:ext cx="11087100" cy="3333750"/>
          </a:xfrm>
          <a:prstGeom xmlns:a="http://schemas.openxmlformats.org/drawingml/2006/main" prst="rect">
            <a:avLst/>
          </a:prstGeom>
          <a:solidFill xmlns:a="http://schemas.openxmlformats.org/drawingml/2006/main">
            <a:srgbClr val="EDF1F4"/>
          </a:solidFill>
          <a:ln xmlns:a="http://schemas.openxmlformats.org/drawingml/2006/main" w="9525">
            <a:solidFill>
              <a:srgbClr val="B8C2CC"/>
            </a:solidFill>
            <a:prstDash val="solid"/>
          </a:ln>
        </p:spPr>
      </p:sp>
      <p:sp>
        <p:nvSpPr>
          <p:cNvPr id="4" name="close-title">
            <a:extLst xmlns:a="http://schemas.openxmlformats.org/drawingml/2006/main">
              <a:ext uri="{FF2B5EF4-FFF2-40B4-BE49-F238E27FC236}">
                <a16:creationId xmlns:a16="http://schemas.microsoft.com/office/drawing/2014/main" id="{B8DD5292-E279-4ABB-8995-13159C9935C4}"/>
              </a:ext>
            </a:extLst>
          </p:cNvPr>
          <p:cNvSpPr>
            <a:spLocks xmlns:a="http://schemas.openxmlformats.org/drawingml/2006/main" noGrp="1"/>
          </p:cNvSpPr>
          <p:nvPr/>
        </p:nvSpPr>
        <p:spPr>
          <a:xfrm xmlns:a="http://schemas.openxmlformats.org/drawingml/2006/main">
            <a:off x="914400" y="1952625"/>
            <a:ext cx="102870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300" b="1">
                <a:solidFill>
                  <a:srgbClr val="10263D"/>
                </a:solidFill>
                <a:latin typeface="Arial"/>
                <a:ea typeface="Arial"/>
                <a:cs typeface="Arial"/>
              </a:defRPr>
            </a:pPr>
            <a:r>
              <a:rPr sz="3300" b="1">
                <a:solidFill>
                  <a:srgbClr val="10263D"/>
                </a:solidFill>
                <a:latin typeface="Arial"/>
                <a:ea typeface="Arial"/>
                <a:cs typeface="Arial"/>
              </a:rPr>
              <a:t>Use these three Clock ideas to complete the Weeks 15–16 checks and evidence.</a:t>
            </a:r>
          </a:p>
        </p:txBody>
      </p:sp>
      <p:sp>
        <p:nvSpPr>
          <p:cNvPr id="5" name="close-action">
            <a:extLst xmlns:a="http://schemas.openxmlformats.org/drawingml/2006/main">
              <a:ext uri="{FF2B5EF4-FFF2-40B4-BE49-F238E27FC236}">
                <a16:creationId xmlns:a16="http://schemas.microsoft.com/office/drawing/2014/main" id="{680ECF3A-D10A-443C-B137-42CDBBE57401}"/>
              </a:ext>
            </a:extLst>
          </p:cNvPr>
          <p:cNvSpPr>
            <a:spLocks xmlns:a="http://schemas.openxmlformats.org/drawingml/2006/main" noGrp="1"/>
          </p:cNvSpPr>
          <p:nvPr/>
        </p:nvSpPr>
        <p:spPr>
          <a:xfrm xmlns:a="http://schemas.openxmlformats.org/drawingml/2006/main">
            <a:off x="1809750" y="5219700"/>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a:solidFill>
                  <a:srgbClr val="526579"/>
                </a:solidFill>
                <a:latin typeface="Arial"/>
                <a:ea typeface="Arial"/>
                <a:cs typeface="Arial"/>
              </a:defRPr>
            </a:pPr>
            <a:r>
              <a:rPr sz="1800">
                <a:solidFill>
                  <a:srgbClr val="526579"/>
                </a:solidFill>
                <a:latin typeface="Arial"/>
                <a:ea typeface="Arial"/>
                <a:cs typeface="Arial"/>
              </a:rPr>
              <a:t>Complete the knowledge checks and written responses, then download your evidence as directed.</a:t>
            </a:r>
          </a:p>
        </p:txBody>
      </p:sp>
    </p:spTree>
    <p:extLst>
      <p:ext uri="{BB962C8B-B14F-4D97-AF65-F5344CB8AC3E}">
        <p14:creationId xmlns:p14="http://schemas.microsoft.com/office/powerpoint/2010/main" val="1668056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2026-08-15T10:19:29.8720000Z</dcterms:created>
  <dcterms:modified xsi:type="dcterms:W3CDTF">2026-08-15T10:19:29.8720000Z</dcterms:modified>
</coreProperties>
</file>