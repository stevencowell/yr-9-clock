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5c22aed33546f0" /><Relationship Type="http://schemas.openxmlformats.org/officeDocument/2006/relationships/extended-properties" Target="/docProps/app.xml" Id="R008767b846a24841" /><Relationship Type="http://schemas.openxmlformats.org/officeDocument/2006/relationships/officeDocument" Target="/ppt/presentation.xml" Id="R8e2aeb5a56fd454b" /></Relationships>
</file>

<file path=ppt/presentation.xml><?xml version="1.0" encoding="utf-8"?>
<p:presentation xmlns:p="http://schemas.openxmlformats.org/presentationml/2006/main">
  <p:sldMasterIdLst>
    <p:sldMasterId xmlns:r="http://schemas.openxmlformats.org/officeDocument/2006/relationships" id="2147483648" r:id="Rda73cc585e2f486a"/>
  </p:sldMasterIdLst>
  <p:notesMasterIdLst>
    <p:notesMasterId xmlns:r="http://schemas.openxmlformats.org/officeDocument/2006/relationships" r:id="R1597548acb744e3c"/>
  </p:notesMasterIdLst>
  <p:sldIdLst>
    <p:sldId xmlns:r="http://schemas.openxmlformats.org/officeDocument/2006/relationships" id="256" r:id="R605468c50b834b76"/>
    <p:sldId xmlns:r="http://schemas.openxmlformats.org/officeDocument/2006/relationships" id="257" r:id="Re442359ea24f48ca"/>
    <p:sldId xmlns:r="http://schemas.openxmlformats.org/officeDocument/2006/relationships" id="258" r:id="R4085c0efba30402d"/>
    <p:sldId xmlns:r="http://schemas.openxmlformats.org/officeDocument/2006/relationships" id="259" r:id="Rc20b4cac5a0c4cbc"/>
    <p:sldId xmlns:r="http://schemas.openxmlformats.org/officeDocument/2006/relationships" id="260" r:id="Rac77a0c8a60e45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e080c792ef4fe7" /><Relationship Type="http://schemas.openxmlformats.org/officeDocument/2006/relationships/slideMaster" Target="/ppt/slideMasters/slideMaster1.xml" Id="Rda73cc585e2f486a" /><Relationship Type="http://schemas.openxmlformats.org/officeDocument/2006/relationships/notesMaster" Target="/ppt/notesMasters/notesMaster1.xml" Id="R1597548acb744e3c" /><Relationship Type="http://schemas.openxmlformats.org/officeDocument/2006/relationships/presProps" Target="/ppt/presProps.xml" Id="Rb181c10217fc4b7b" /><Relationship Type="http://schemas.openxmlformats.org/officeDocument/2006/relationships/tableStyles" Target="/ppt/tableStyles.xml" Id="R2ac66ca98f5a46c5" /><Relationship Type="http://schemas.openxmlformats.org/officeDocument/2006/relationships/slide" Target="/ppt/slides/slide1.xml" Id="R605468c50b834b76" /><Relationship Type="http://schemas.openxmlformats.org/officeDocument/2006/relationships/slide" Target="/ppt/slides/slide2.xml" Id="Re442359ea24f48ca" /><Relationship Type="http://schemas.openxmlformats.org/officeDocument/2006/relationships/slide" Target="/ppt/slides/slide3.xml" Id="R4085c0efba30402d" /><Relationship Type="http://schemas.openxmlformats.org/officeDocument/2006/relationships/slide" Target="/ppt/slides/slide4.xml" Id="Rc20b4cac5a0c4cbc" /><Relationship Type="http://schemas.openxmlformats.org/officeDocument/2006/relationships/slide" Target="/ppt/slides/slide5.xml" Id="Rac77a0c8a60e45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ccf3efcbaa46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797d087dae46f2" /><Relationship Type="http://schemas.openxmlformats.org/officeDocument/2006/relationships/notesMaster" Target="/ppt/notesMasters/notesMaster1.xml" Id="Rf31c3af7c04846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1a1bdabc3a4804" /><Relationship Type="http://schemas.openxmlformats.org/officeDocument/2006/relationships/notesMaster" Target="/ppt/notesMasters/notesMaster1.xml" Id="R964a6706cad544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9d8ca95631472b" /><Relationship Type="http://schemas.openxmlformats.org/officeDocument/2006/relationships/notesMaster" Target="/ppt/notesMasters/notesMaster1.xml" Id="Rc06940bf677e43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e30976256c4524" /><Relationship Type="http://schemas.openxmlformats.org/officeDocument/2006/relationships/notesMaster" Target="/ppt/notesMasters/notesMaster1.xml" Id="R56ea37d9196040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6c299bfadf4931" /><Relationship Type="http://schemas.openxmlformats.org/officeDocument/2006/relationships/notesMaster" Target="/ppt/notesMasters/notesMaster1.xml" Id="R4952d3d5a41e48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73c63001cf42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07497dc5a748fd" /><Relationship Type="http://schemas.openxmlformats.org/officeDocument/2006/relationships/slideLayout" Target="/ppt/slideLayouts/slideLayout1.xml" Id="R2bb33540436c4d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b33540436c4d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fa9a7efa844dc7" /><Relationship Type="http://schemas.openxmlformats.org/officeDocument/2006/relationships/image" Target="/ppt/media/image.png" Id="Rccb5b3c0b8774496" /><Relationship Type="http://schemas.openxmlformats.org/officeDocument/2006/relationships/notesSlide" Target="/ppt/notesSlides/notesSlide1.xml" Id="Rbb63ccd986be48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636e3827f34f4d" /><Relationship Type="http://schemas.openxmlformats.org/officeDocument/2006/relationships/image" Target="/ppt/media/image2.png" Id="R4212c96c17f44c28" /><Relationship Type="http://schemas.openxmlformats.org/officeDocument/2006/relationships/notesSlide" Target="/ppt/notesSlides/notesSlide2.xml" Id="R3326f096365a4c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e29419289624676" /><Relationship Type="http://schemas.openxmlformats.org/officeDocument/2006/relationships/image" Target="/ppt/media/image3.png" Id="R76a0526f15cf4a84" /><Relationship Type="http://schemas.openxmlformats.org/officeDocument/2006/relationships/notesSlide" Target="/ppt/notesSlides/notesSlide3.xml" Id="R15bb7c4ff1324e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2174a31b6c4b71" /><Relationship Type="http://schemas.openxmlformats.org/officeDocument/2006/relationships/image" Target="/ppt/media/image4.png" Id="Rf9c287aae06542c3" /><Relationship Type="http://schemas.openxmlformats.org/officeDocument/2006/relationships/notesSlide" Target="/ppt/notesSlides/notesSlide4.xml" Id="Rb365308a28564e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bdfe26adf145be" /><Relationship Type="http://schemas.openxmlformats.org/officeDocument/2006/relationships/notesSlide" Target="/ppt/notesSlides/notesSlide5.xml" Id="R3d2858c5daa842a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cb5b3c0b8774496"/>
          <a:stretch xmlns:a="http://schemas.openxmlformats.org/drawingml/2006/main"/>
        </p:blipFill>
        <p:spPr>
          <a:xfrm xmlns:a="http://schemas.openxmlformats.org/drawingml/2006/main">
            <a:off x="6667500" y="1294254"/>
            <a:ext cx="5524500" cy="4269491"/>
          </a:xfrm>
          <a:prstGeom xmlns:a="http://schemas.openxmlformats.org/drawingml/2006/main" prst="rect">
            <a:avLst/>
          </a:prstGeom>
        </p:spPr>
      </p:pic>
      <p:sp>
        <p:nvSpPr>
          <p:cNvPr id="2" name="cover-accent">
            <a:extLst xmlns:a="http://schemas.openxmlformats.org/drawingml/2006/main">
              <a:ext uri="{FF2B5EF4-FFF2-40B4-BE49-F238E27FC236}">
                <a16:creationId xmlns:a16="http://schemas.microsoft.com/office/drawing/2014/main" id="{4485FB03-CE32-4A32-80E4-3A5A357C6226}"/>
              </a:ext>
            </a:extLst>
          </p:cNvPr>
          <p:cNvSpPr>
            <a:spLocks xmlns:a="http://schemas.openxmlformats.org/drawingml/2006/main" noGrp="1"/>
          </p:cNvSpPr>
          <p:nvPr/>
        </p:nvSpPr>
        <p:spPr>
          <a:xfrm xmlns:a="http://schemas.openxmlformats.org/drawingml/2006/main">
            <a:off x="6286500" y="0"/>
            <a:ext cx="38100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 name="cover-eyebrow">
            <a:extLst xmlns:a="http://schemas.openxmlformats.org/drawingml/2006/main">
              <a:ext uri="{FF2B5EF4-FFF2-40B4-BE49-F238E27FC236}">
                <a16:creationId xmlns:a16="http://schemas.microsoft.com/office/drawing/2014/main" id="{812DA318-117E-4DA4-9F2D-481333094B76}"/>
              </a:ext>
            </a:extLst>
          </p:cNvPr>
          <p:cNvSpPr>
            <a:spLocks xmlns:a="http://schemas.openxmlformats.org/drawingml/2006/main" noGrp="1"/>
          </p:cNvSpPr>
          <p:nvPr/>
        </p:nvSpPr>
        <p:spPr>
          <a:xfrm xmlns:a="http://schemas.openxmlformats.org/drawingml/2006/main">
            <a:off x="571500" y="6858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B5FAD"/>
                </a:solidFill>
                <a:latin typeface="Arial"/>
                <a:ea typeface="Arial"/>
                <a:cs typeface="Arial"/>
              </a:defRPr>
            </a:pPr>
            <a:r>
              <a:rPr sz="1350" b="1">
                <a:solidFill>
                  <a:srgbClr val="0B5FAD"/>
                </a:solidFill>
                <a:latin typeface="Arial"/>
                <a:ea typeface="Arial"/>
                <a:cs typeface="Arial"/>
              </a:rPr>
              <a:t>MODULE 5 OF 10 · WEEKS 9–10</a:t>
            </a:r>
          </a:p>
        </p:txBody>
      </p:sp>
      <p:sp>
        <p:nvSpPr>
          <p:cNvPr id="4" name="cover-title">
            <a:extLst xmlns:a="http://schemas.openxmlformats.org/drawingml/2006/main">
              <a:ext uri="{FF2B5EF4-FFF2-40B4-BE49-F238E27FC236}">
                <a16:creationId xmlns:a16="http://schemas.microsoft.com/office/drawing/2014/main" id="{5E93E06B-90D6-49C3-BC0B-613D1ED99587}"/>
              </a:ext>
            </a:extLst>
          </p:cNvPr>
          <p:cNvSpPr>
            <a:spLocks xmlns:a="http://schemas.openxmlformats.org/drawingml/2006/main" noGrp="1"/>
          </p:cNvSpPr>
          <p:nvPr/>
        </p:nvSpPr>
        <p:spPr>
          <a:xfrm xmlns:a="http://schemas.openxmlformats.org/drawingml/2006/main">
            <a:off x="571500" y="1504950"/>
            <a:ext cx="5238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10263D"/>
                </a:solidFill>
                <a:latin typeface="Arial"/>
                <a:ea typeface="Arial"/>
                <a:cs typeface="Arial"/>
              </a:defRPr>
            </a:pPr>
            <a:r>
              <a:rPr sz="4200" b="1">
                <a:solidFill>
                  <a:srgbClr val="10263D"/>
                </a:solidFill>
                <a:latin typeface="Arial"/>
                <a:ea typeface="Arial"/>
                <a:cs typeface="Arial"/>
              </a:rPr>
              <a:t>Hidden drawer, off-cuts and fault diagnosis</a:t>
            </a:r>
          </a:p>
        </p:txBody>
      </p:sp>
      <p:sp>
        <p:nvSpPr>
          <p:cNvPr id="5" name="cover-subtitle">
            <a:extLst xmlns:a="http://schemas.openxmlformats.org/drawingml/2006/main">
              <a:ext uri="{FF2B5EF4-FFF2-40B4-BE49-F238E27FC236}">
                <a16:creationId xmlns:a16="http://schemas.microsoft.com/office/drawing/2014/main" id="{AB12AF0D-11EA-45FD-8FAD-9C7CEDB888CE}"/>
              </a:ext>
            </a:extLst>
          </p:cNvPr>
          <p:cNvSpPr>
            <a:spLocks xmlns:a="http://schemas.openxmlformats.org/drawingml/2006/main" noGrp="1"/>
          </p:cNvSpPr>
          <p:nvPr/>
        </p:nvSpPr>
        <p:spPr>
          <a:xfrm xmlns:a="http://schemas.openxmlformats.org/drawingml/2006/main">
            <a:off x="571500" y="4095750"/>
            <a:ext cx="5143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526579"/>
                </a:solidFill>
                <a:latin typeface="Arial"/>
                <a:ea typeface="Arial"/>
                <a:cs typeface="Arial"/>
              </a:defRPr>
            </a:pPr>
            <a:r>
              <a:rPr sz="1800">
                <a:solidFill>
                  <a:srgbClr val="526579"/>
                </a:solidFill>
                <a:latin typeface="Arial"/>
                <a:ea typeface="Arial"/>
                <a:cs typeface="Arial"/>
              </a:rPr>
              <a:t>Use the Clock drawing, the three theory sections and the module evidence in sequence.</a:t>
            </a:r>
          </a:p>
        </p:txBody>
      </p:sp>
      <p:sp>
        <p:nvSpPr>
          <p:cNvPr id="6" name="cover-footer">
            <a:extLst xmlns:a="http://schemas.openxmlformats.org/drawingml/2006/main">
              <a:ext uri="{FF2B5EF4-FFF2-40B4-BE49-F238E27FC236}">
                <a16:creationId xmlns:a16="http://schemas.microsoft.com/office/drawing/2014/main" id="{76D0EB08-ACB8-4A5E-A510-223583A91171}"/>
              </a:ext>
            </a:extLst>
          </p:cNvPr>
          <p:cNvSpPr>
            <a:spLocks xmlns:a="http://schemas.openxmlformats.org/drawingml/2006/main" noGrp="1"/>
          </p:cNvSpPr>
          <p:nvPr/>
        </p:nvSpPr>
        <p:spPr>
          <a:xfrm xmlns:a="http://schemas.openxmlformats.org/drawingml/2006/main">
            <a:off x="571500" y="61531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526579"/>
                </a:solidFill>
                <a:latin typeface="Arial"/>
                <a:ea typeface="Arial"/>
                <a:cs typeface="Arial"/>
              </a:defRPr>
            </a:pPr>
            <a:r>
              <a:rPr sz="1200" b="1">
                <a:solidFill>
                  <a:srgbClr val="526579"/>
                </a:solidFill>
                <a:latin typeface="Arial"/>
                <a:ea typeface="Arial"/>
                <a:cs typeface="Arial"/>
              </a:rPr>
              <a:t>Clock Guided Course</a:t>
            </a:r>
          </a:p>
        </p:txBody>
      </p:sp>
    </p:spTree>
    <p:extLst>
      <p:ext uri="{BB962C8B-B14F-4D97-AF65-F5344CB8AC3E}">
        <p14:creationId xmlns:p14="http://schemas.microsoft.com/office/powerpoint/2010/main" val="4115573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abel-2">
            <a:extLst xmlns:a="http://schemas.openxmlformats.org/drawingml/2006/main">
              <a:ext uri="{FF2B5EF4-FFF2-40B4-BE49-F238E27FC236}">
                <a16:creationId xmlns:a16="http://schemas.microsoft.com/office/drawing/2014/main" id="{30CBB285-559E-48D4-8C46-D61818825BF3}"/>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5 OF 10 · WEEKS 9–10</a:t>
            </a:r>
          </a:p>
        </p:txBody>
      </p:sp>
      <p:sp>
        <p:nvSpPr>
          <p:cNvPr id="2" name="page-2">
            <a:extLst xmlns:a="http://schemas.openxmlformats.org/drawingml/2006/main">
              <a:ext uri="{FF2B5EF4-FFF2-40B4-BE49-F238E27FC236}">
                <a16:creationId xmlns:a16="http://schemas.microsoft.com/office/drawing/2014/main" id="{67921036-4079-4CBB-AEAD-8CC35C971CA1}"/>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212c96c17f44c28"/>
          <a:stretch xmlns:a="http://schemas.openxmlformats.org/drawingml/2006/main"/>
        </p:blipFill>
        <p:spPr>
          <a:xfrm xmlns:a="http://schemas.openxmlformats.org/drawingml/2006/main">
            <a:off x="6572250" y="1257448"/>
            <a:ext cx="5619750" cy="4343103"/>
          </a:xfrm>
          <a:prstGeom xmlns:a="http://schemas.openxmlformats.org/drawingml/2006/main" prst="rect">
            <a:avLst/>
          </a:prstGeom>
        </p:spPr>
      </p:pic>
      <p:sp>
        <p:nvSpPr>
          <p:cNvPr id="4" name="topic-title-0">
            <a:extLst xmlns:a="http://schemas.openxmlformats.org/drawingml/2006/main">
              <a:ext uri="{FF2B5EF4-FFF2-40B4-BE49-F238E27FC236}">
                <a16:creationId xmlns:a16="http://schemas.microsoft.com/office/drawing/2014/main" id="{B43438DD-F359-4B9A-BDBE-EFC16E3B0393}"/>
              </a:ext>
            </a:extLst>
          </p:cNvPr>
          <p:cNvSpPr>
            <a:spLocks xmlns:a="http://schemas.openxmlformats.org/drawingml/2006/main" noGrp="1"/>
          </p:cNvSpPr>
          <p:nvPr/>
        </p:nvSpPr>
        <p:spPr>
          <a:xfrm xmlns:a="http://schemas.openxmlformats.org/drawingml/2006/main">
            <a:off x="5905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The hidden drawer: accuracy, clearance and fit</a:t>
            </a:r>
          </a:p>
        </p:txBody>
      </p:sp>
      <p:sp>
        <p:nvSpPr>
          <p:cNvPr id="5" name="topic-body-0">
            <a:extLst xmlns:a="http://schemas.openxmlformats.org/drawingml/2006/main">
              <a:ext uri="{FF2B5EF4-FFF2-40B4-BE49-F238E27FC236}">
                <a16:creationId xmlns:a16="http://schemas.microsoft.com/office/drawing/2014/main" id="{17624884-5D6B-41DD-ABD6-0B20C2951E58}"/>
              </a:ext>
            </a:extLst>
          </p:cNvPr>
          <p:cNvSpPr>
            <a:spLocks xmlns:a="http://schemas.openxmlformats.org/drawingml/2006/main" noGrp="1"/>
          </p:cNvSpPr>
          <p:nvPr/>
        </p:nvSpPr>
        <p:spPr>
          <a:xfrm xmlns:a="http://schemas.openxmlformats.org/drawingml/2006/main">
            <a:off x="5905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The hidden drawer adds function and interest to the Clock, but it will only work well if its components are accurately prepared and assembled. Because the drawer is made from off-cuts, each piece must still be checked against the Clock drawing and the teacher-approved…</a:t>
            </a:r>
          </a:p>
        </p:txBody>
      </p:sp>
      <p:sp>
        <p:nvSpPr>
          <p:cNvPr id="6" name="check-rule-0">
            <a:extLst xmlns:a="http://schemas.openxmlformats.org/drawingml/2006/main">
              <a:ext uri="{FF2B5EF4-FFF2-40B4-BE49-F238E27FC236}">
                <a16:creationId xmlns:a16="http://schemas.microsoft.com/office/drawing/2014/main" id="{A23C6CA5-0695-4618-8AE7-EF29885DE736}"/>
              </a:ext>
            </a:extLst>
          </p:cNvPr>
          <p:cNvSpPr>
            <a:spLocks xmlns:a="http://schemas.openxmlformats.org/drawingml/2006/main" noGrp="1"/>
          </p:cNvSpPr>
          <p:nvPr/>
        </p:nvSpPr>
        <p:spPr>
          <a:xfrm xmlns:a="http://schemas.openxmlformats.org/drawingml/2006/main">
            <a:off x="5905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topic-check-0">
            <a:extLst xmlns:a="http://schemas.openxmlformats.org/drawingml/2006/main">
              <a:ext uri="{FF2B5EF4-FFF2-40B4-BE49-F238E27FC236}">
                <a16:creationId xmlns:a16="http://schemas.microsoft.com/office/drawing/2014/main" id="{DB07E5C5-36A1-4FD6-973B-D09A6BC2777F}"/>
              </a:ext>
            </a:extLst>
          </p:cNvPr>
          <p:cNvSpPr>
            <a:spLocks xmlns:a="http://schemas.openxmlformats.org/drawingml/2006/main" noGrp="1"/>
          </p:cNvSpPr>
          <p:nvPr/>
        </p:nvSpPr>
        <p:spPr>
          <a:xfrm xmlns:a="http://schemas.openxmlformats.org/drawingml/2006/main">
            <a:off x="5905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A well-fitted hidden drawer depends on accurate components, square assembly, consistent clearance and careful testing against the Clock drawing and approved cutting list.</a:t>
            </a:r>
          </a:p>
        </p:txBody>
      </p:sp>
    </p:spTree>
    <p:extLst>
      <p:ext uri="{BB962C8B-B14F-4D97-AF65-F5344CB8AC3E}">
        <p14:creationId xmlns:p14="http://schemas.microsoft.com/office/powerpoint/2010/main" val="13454567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label-3">
            <a:extLst xmlns:a="http://schemas.openxmlformats.org/drawingml/2006/main">
              <a:ext uri="{FF2B5EF4-FFF2-40B4-BE49-F238E27FC236}">
                <a16:creationId xmlns:a16="http://schemas.microsoft.com/office/drawing/2014/main" id="{231CE121-3793-4458-923C-35947E1C9229}"/>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5 OF 10 · WEEKS 9–10</a:t>
            </a:r>
          </a:p>
        </p:txBody>
      </p:sp>
      <p:sp>
        <p:nvSpPr>
          <p:cNvPr id="2" name="page-3">
            <a:extLst xmlns:a="http://schemas.openxmlformats.org/drawingml/2006/main">
              <a:ext uri="{FF2B5EF4-FFF2-40B4-BE49-F238E27FC236}">
                <a16:creationId xmlns:a16="http://schemas.microsoft.com/office/drawing/2014/main" id="{764D736D-7BBA-40E4-9E0B-C231C205A0B8}"/>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3</a:t>
            </a:r>
          </a:p>
        </p:txBody>
      </p:sp>
      <p:sp>
        <p:nvSpPr>
          <p:cNvPr id="3" name="accent-1">
            <a:extLst xmlns:a="http://schemas.openxmlformats.org/drawingml/2006/main">
              <a:ext uri="{FF2B5EF4-FFF2-40B4-BE49-F238E27FC236}">
                <a16:creationId xmlns:a16="http://schemas.microsoft.com/office/drawing/2014/main" id="{F3C10E8C-842D-4AC9-AB3D-2239419FDDAC}"/>
              </a:ext>
            </a:extLst>
          </p:cNvPr>
          <p:cNvSpPr>
            <a:spLocks xmlns:a="http://schemas.openxmlformats.org/drawingml/2006/main" noGrp="1"/>
          </p:cNvSpPr>
          <p:nvPr/>
        </p:nvSpPr>
        <p:spPr>
          <a:xfrm xmlns:a="http://schemas.openxmlformats.org/drawingml/2006/main">
            <a:off x="5905500" y="0"/>
            <a:ext cx="26670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6a0526f15cf4a84"/>
          <a:stretch xmlns:a="http://schemas.openxmlformats.org/drawingml/2006/main"/>
        </p:blipFill>
        <p:spPr>
          <a:xfrm xmlns:a="http://schemas.openxmlformats.org/drawingml/2006/main">
            <a:off x="0" y="1847605"/>
            <a:ext cx="5619750" cy="3162790"/>
          </a:xfrm>
          <a:prstGeom xmlns:a="http://schemas.openxmlformats.org/drawingml/2006/main" prst="rect">
            <a:avLst/>
          </a:prstGeom>
        </p:spPr>
      </p:pic>
      <p:sp>
        <p:nvSpPr>
          <p:cNvPr id="5" name="topic-title-1">
            <a:extLst xmlns:a="http://schemas.openxmlformats.org/drawingml/2006/main">
              <a:ext uri="{FF2B5EF4-FFF2-40B4-BE49-F238E27FC236}">
                <a16:creationId xmlns:a16="http://schemas.microsoft.com/office/drawing/2014/main" id="{91AD5952-4A7F-4F05-A028-BA8DF3ED37F1}"/>
              </a:ext>
            </a:extLst>
          </p:cNvPr>
          <p:cNvSpPr>
            <a:spLocks xmlns:a="http://schemas.openxmlformats.org/drawingml/2006/main" noGrp="1"/>
          </p:cNvSpPr>
          <p:nvPr/>
        </p:nvSpPr>
        <p:spPr>
          <a:xfrm xmlns:a="http://schemas.openxmlformats.org/drawingml/2006/main">
            <a:off x="65722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Responsible material use and off-cut selection</a:t>
            </a:r>
          </a:p>
        </p:txBody>
      </p:sp>
      <p:sp>
        <p:nvSpPr>
          <p:cNvPr id="6" name="topic-body-1">
            <a:extLst xmlns:a="http://schemas.openxmlformats.org/drawingml/2006/main">
              <a:ext uri="{FF2B5EF4-FFF2-40B4-BE49-F238E27FC236}">
                <a16:creationId xmlns:a16="http://schemas.microsoft.com/office/drawing/2014/main" id="{F4A5FEA9-C51B-4B9B-8B8C-9FB06C49B749}"/>
              </a:ext>
            </a:extLst>
          </p:cNvPr>
          <p:cNvSpPr>
            <a:spLocks xmlns:a="http://schemas.openxmlformats.org/drawingml/2006/main" noGrp="1"/>
          </p:cNvSpPr>
          <p:nvPr/>
        </p:nvSpPr>
        <p:spPr>
          <a:xfrm xmlns:a="http://schemas.openxmlformats.org/drawingml/2006/main">
            <a:off x="65722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The hidden drawer gives suitable timber off-cuts a useful purpose instead of treating them automatically as waste. An off-cut is a piece left after another component has been prepared.</a:t>
            </a:r>
          </a:p>
        </p:txBody>
      </p:sp>
      <p:sp>
        <p:nvSpPr>
          <p:cNvPr id="7" name="check-rule-1">
            <a:extLst xmlns:a="http://schemas.openxmlformats.org/drawingml/2006/main">
              <a:ext uri="{FF2B5EF4-FFF2-40B4-BE49-F238E27FC236}">
                <a16:creationId xmlns:a16="http://schemas.microsoft.com/office/drawing/2014/main" id="{E5802C43-644C-4295-8BE4-24B57B97FB08}"/>
              </a:ext>
            </a:extLst>
          </p:cNvPr>
          <p:cNvSpPr>
            <a:spLocks xmlns:a="http://schemas.openxmlformats.org/drawingml/2006/main" noGrp="1"/>
          </p:cNvSpPr>
          <p:nvPr/>
        </p:nvSpPr>
        <p:spPr>
          <a:xfrm xmlns:a="http://schemas.openxmlformats.org/drawingml/2006/main">
            <a:off x="65722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topic-check-1">
            <a:extLst xmlns:a="http://schemas.openxmlformats.org/drawingml/2006/main">
              <a:ext uri="{FF2B5EF4-FFF2-40B4-BE49-F238E27FC236}">
                <a16:creationId xmlns:a16="http://schemas.microsoft.com/office/drawing/2014/main" id="{592FCAA5-1E9E-4980-AC1C-B960BB0C0B39}"/>
              </a:ext>
            </a:extLst>
          </p:cNvPr>
          <p:cNvSpPr>
            <a:spLocks xmlns:a="http://schemas.openxmlformats.org/drawingml/2006/main" noGrp="1"/>
          </p:cNvSpPr>
          <p:nvPr/>
        </p:nvSpPr>
        <p:spPr>
          <a:xfrm xmlns:a="http://schemas.openxmlformats.org/drawingml/2006/main">
            <a:off x="65722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Responsible material use means selecting sound, correctly sized off-cuts from approved information, not forcing unsuitable scraps into the project.</a:t>
            </a:r>
          </a:p>
        </p:txBody>
      </p:sp>
    </p:spTree>
    <p:extLst>
      <p:ext uri="{BB962C8B-B14F-4D97-AF65-F5344CB8AC3E}">
        <p14:creationId xmlns:p14="http://schemas.microsoft.com/office/powerpoint/2010/main" val="12078323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abel-4">
            <a:extLst xmlns:a="http://schemas.openxmlformats.org/drawingml/2006/main">
              <a:ext uri="{FF2B5EF4-FFF2-40B4-BE49-F238E27FC236}">
                <a16:creationId xmlns:a16="http://schemas.microsoft.com/office/drawing/2014/main" id="{18BA6FAE-3B8C-4E59-A0B4-E0DBB2830997}"/>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5 OF 10 · WEEKS 9–10</a:t>
            </a:r>
          </a:p>
        </p:txBody>
      </p:sp>
      <p:sp>
        <p:nvSpPr>
          <p:cNvPr id="2" name="page-4">
            <a:extLst xmlns:a="http://schemas.openxmlformats.org/drawingml/2006/main">
              <a:ext uri="{FF2B5EF4-FFF2-40B4-BE49-F238E27FC236}">
                <a16:creationId xmlns:a16="http://schemas.microsoft.com/office/drawing/2014/main" id="{0AD5D2FB-0EDF-4BFB-8FBD-872C0B14D82C}"/>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9c287aae06542c3"/>
          <a:stretch xmlns:a="http://schemas.openxmlformats.org/drawingml/2006/main"/>
        </p:blipFill>
        <p:spPr>
          <a:xfrm xmlns:a="http://schemas.openxmlformats.org/drawingml/2006/main">
            <a:off x="6572250" y="1847605"/>
            <a:ext cx="5619750" cy="3162790"/>
          </a:xfrm>
          <a:prstGeom xmlns:a="http://schemas.openxmlformats.org/drawingml/2006/main" prst="rect">
            <a:avLst/>
          </a:prstGeom>
        </p:spPr>
      </p:pic>
      <p:sp>
        <p:nvSpPr>
          <p:cNvPr id="4" name="topic-title-2">
            <a:extLst xmlns:a="http://schemas.openxmlformats.org/drawingml/2006/main">
              <a:ext uri="{FF2B5EF4-FFF2-40B4-BE49-F238E27FC236}">
                <a16:creationId xmlns:a16="http://schemas.microsoft.com/office/drawing/2014/main" id="{949D0320-FBD6-454D-B769-3F8CA1E5EBF8}"/>
              </a:ext>
            </a:extLst>
          </p:cNvPr>
          <p:cNvSpPr>
            <a:spLocks xmlns:a="http://schemas.openxmlformats.org/drawingml/2006/main" noGrp="1"/>
          </p:cNvSpPr>
          <p:nvPr/>
        </p:nvSpPr>
        <p:spPr>
          <a:xfrm xmlns:a="http://schemas.openxmlformats.org/drawingml/2006/main">
            <a:off x="5905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Testing drawer fit and diagnosing faults</a:t>
            </a:r>
          </a:p>
        </p:txBody>
      </p:sp>
      <p:sp>
        <p:nvSpPr>
          <p:cNvPr id="5" name="topic-body-2">
            <a:extLst xmlns:a="http://schemas.openxmlformats.org/drawingml/2006/main">
              <a:ext uri="{FF2B5EF4-FFF2-40B4-BE49-F238E27FC236}">
                <a16:creationId xmlns:a16="http://schemas.microsoft.com/office/drawing/2014/main" id="{3555B6A4-CA6E-4602-8E1F-4E6D63B5BD2A}"/>
              </a:ext>
            </a:extLst>
          </p:cNvPr>
          <p:cNvSpPr>
            <a:spLocks xmlns:a="http://schemas.openxmlformats.org/drawingml/2006/main" noGrp="1"/>
          </p:cNvSpPr>
          <p:nvPr/>
        </p:nvSpPr>
        <p:spPr>
          <a:xfrm xmlns:a="http://schemas.openxmlformats.org/drawingml/2006/main">
            <a:off x="5905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A hidden drawer must move smoothly, sit in the correct position and align neatly with the Clock. Testing the fit is not simply a matter of pushing the drawer in and deciding whether it works.</a:t>
            </a:r>
          </a:p>
        </p:txBody>
      </p:sp>
      <p:sp>
        <p:nvSpPr>
          <p:cNvPr id="6" name="check-rule-2">
            <a:extLst xmlns:a="http://schemas.openxmlformats.org/drawingml/2006/main">
              <a:ext uri="{FF2B5EF4-FFF2-40B4-BE49-F238E27FC236}">
                <a16:creationId xmlns:a16="http://schemas.microsoft.com/office/drawing/2014/main" id="{25AF4B68-7882-4BEB-825D-44C70BC74307}"/>
              </a:ext>
            </a:extLst>
          </p:cNvPr>
          <p:cNvSpPr>
            <a:spLocks xmlns:a="http://schemas.openxmlformats.org/drawingml/2006/main" noGrp="1"/>
          </p:cNvSpPr>
          <p:nvPr/>
        </p:nvSpPr>
        <p:spPr>
          <a:xfrm xmlns:a="http://schemas.openxmlformats.org/drawingml/2006/main">
            <a:off x="5905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topic-check-2">
            <a:extLst xmlns:a="http://schemas.openxmlformats.org/drawingml/2006/main">
              <a:ext uri="{FF2B5EF4-FFF2-40B4-BE49-F238E27FC236}">
                <a16:creationId xmlns:a16="http://schemas.microsoft.com/office/drawing/2014/main" id="{CB68EDD1-E504-4F96-A297-845E5FAEC940}"/>
              </a:ext>
            </a:extLst>
          </p:cNvPr>
          <p:cNvSpPr>
            <a:spLocks xmlns:a="http://schemas.openxmlformats.org/drawingml/2006/main" noGrp="1"/>
          </p:cNvSpPr>
          <p:nvPr/>
        </p:nvSpPr>
        <p:spPr>
          <a:xfrm xmlns:a="http://schemas.openxmlformats.org/drawingml/2006/main">
            <a:off x="5905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Diagnose the evidence before making a correction. Never force the drawer or remove material by guesswork.</a:t>
            </a:r>
          </a:p>
        </p:txBody>
      </p:sp>
    </p:spTree>
    <p:extLst>
      <p:ext uri="{BB962C8B-B14F-4D97-AF65-F5344CB8AC3E}">
        <p14:creationId xmlns:p14="http://schemas.microsoft.com/office/powerpoint/2010/main" val="6911558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label-5">
            <a:extLst xmlns:a="http://schemas.openxmlformats.org/drawingml/2006/main">
              <a:ext uri="{FF2B5EF4-FFF2-40B4-BE49-F238E27FC236}">
                <a16:creationId xmlns:a16="http://schemas.microsoft.com/office/drawing/2014/main" id="{9349B677-8310-4BAE-82CA-A7926B4F0111}"/>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BEFORE YOU MOVE ON</a:t>
            </a:r>
          </a:p>
        </p:txBody>
      </p:sp>
      <p:sp>
        <p:nvSpPr>
          <p:cNvPr id="2" name="page-5">
            <a:extLst xmlns:a="http://schemas.openxmlformats.org/drawingml/2006/main">
              <a:ext uri="{FF2B5EF4-FFF2-40B4-BE49-F238E27FC236}">
                <a16:creationId xmlns:a16="http://schemas.microsoft.com/office/drawing/2014/main" id="{7520BFB2-1997-4966-A981-5D9F1E2F276E}"/>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5</a:t>
            </a:r>
          </a:p>
        </p:txBody>
      </p:sp>
      <p:sp>
        <p:nvSpPr>
          <p:cNvPr id="3" name="close-panel">
            <a:extLst xmlns:a="http://schemas.openxmlformats.org/drawingml/2006/main">
              <a:ext uri="{FF2B5EF4-FFF2-40B4-BE49-F238E27FC236}">
                <a16:creationId xmlns:a16="http://schemas.microsoft.com/office/drawing/2014/main" id="{442B9727-1505-483C-8F1D-E32C1D8ED20F}"/>
              </a:ext>
            </a:extLst>
          </p:cNvPr>
          <p:cNvSpPr>
            <a:spLocks xmlns:a="http://schemas.openxmlformats.org/drawingml/2006/main" noGrp="1"/>
          </p:cNvSpPr>
          <p:nvPr/>
        </p:nvSpPr>
        <p:spPr>
          <a:xfrm xmlns:a="http://schemas.openxmlformats.org/drawingml/2006/main">
            <a:off x="552450" y="1428750"/>
            <a:ext cx="11087100" cy="3333750"/>
          </a:xfrm>
          <a:prstGeom xmlns:a="http://schemas.openxmlformats.org/drawingml/2006/main" prst="rect">
            <a:avLst/>
          </a:prstGeom>
          <a:solidFill xmlns:a="http://schemas.openxmlformats.org/drawingml/2006/main">
            <a:srgbClr val="EDF1F4"/>
          </a:solidFill>
          <a:ln xmlns:a="http://schemas.openxmlformats.org/drawingml/2006/main" w="9525">
            <a:solidFill>
              <a:srgbClr val="B8C2CC"/>
            </a:solidFill>
            <a:prstDash val="solid"/>
          </a:ln>
        </p:spPr>
      </p:sp>
      <p:sp>
        <p:nvSpPr>
          <p:cNvPr id="4" name="close-title">
            <a:extLst xmlns:a="http://schemas.openxmlformats.org/drawingml/2006/main">
              <a:ext uri="{FF2B5EF4-FFF2-40B4-BE49-F238E27FC236}">
                <a16:creationId xmlns:a16="http://schemas.microsoft.com/office/drawing/2014/main" id="{AE2F110C-8D6F-41FC-8D4D-71F9FFC78B9C}"/>
              </a:ext>
            </a:extLst>
          </p:cNvPr>
          <p:cNvSpPr>
            <a:spLocks xmlns:a="http://schemas.openxmlformats.org/drawingml/2006/main" noGrp="1"/>
          </p:cNvSpPr>
          <p:nvPr/>
        </p:nvSpPr>
        <p:spPr>
          <a:xfrm xmlns:a="http://schemas.openxmlformats.org/drawingml/2006/main">
            <a:off x="914400" y="1952625"/>
            <a:ext cx="10287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300" b="1">
                <a:solidFill>
                  <a:srgbClr val="10263D"/>
                </a:solidFill>
                <a:latin typeface="Arial"/>
                <a:ea typeface="Arial"/>
                <a:cs typeface="Arial"/>
              </a:defRPr>
            </a:pPr>
            <a:r>
              <a:rPr sz="3300" b="1">
                <a:solidFill>
                  <a:srgbClr val="10263D"/>
                </a:solidFill>
                <a:latin typeface="Arial"/>
                <a:ea typeface="Arial"/>
                <a:cs typeface="Arial"/>
              </a:rPr>
              <a:t>Use these three Clock ideas to complete the Weeks 9–10 checks and evidence.</a:t>
            </a:r>
          </a:p>
        </p:txBody>
      </p:sp>
      <p:sp>
        <p:nvSpPr>
          <p:cNvPr id="5" name="close-action">
            <a:extLst xmlns:a="http://schemas.openxmlformats.org/drawingml/2006/main">
              <a:ext uri="{FF2B5EF4-FFF2-40B4-BE49-F238E27FC236}">
                <a16:creationId xmlns:a16="http://schemas.microsoft.com/office/drawing/2014/main" id="{7935D67E-656B-4C73-BE48-7481AAF6B76B}"/>
              </a:ext>
            </a:extLst>
          </p:cNvPr>
          <p:cNvSpPr>
            <a:spLocks xmlns:a="http://schemas.openxmlformats.org/drawingml/2006/main" noGrp="1"/>
          </p:cNvSpPr>
          <p:nvPr/>
        </p:nvSpPr>
        <p:spPr>
          <a:xfrm xmlns:a="http://schemas.openxmlformats.org/drawingml/2006/main">
            <a:off x="1809750" y="5219700"/>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a:solidFill>
                  <a:srgbClr val="526579"/>
                </a:solidFill>
                <a:latin typeface="Arial"/>
                <a:ea typeface="Arial"/>
                <a:cs typeface="Arial"/>
              </a:defRPr>
            </a:pPr>
            <a:r>
              <a:rPr sz="1800">
                <a:solidFill>
                  <a:srgbClr val="526579"/>
                </a:solidFill>
                <a:latin typeface="Arial"/>
                <a:ea typeface="Arial"/>
                <a:cs typeface="Arial"/>
              </a:rPr>
              <a:t>Complete the knowledge checks and written responses, then download your evidence as directed.</a:t>
            </a:r>
          </a:p>
        </p:txBody>
      </p:sp>
    </p:spTree>
    <p:extLst>
      <p:ext uri="{BB962C8B-B14F-4D97-AF65-F5344CB8AC3E}">
        <p14:creationId xmlns:p14="http://schemas.microsoft.com/office/powerpoint/2010/main" val="8246762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2026-08-15T10:19:27.3640000Z</dcterms:created>
  <dcterms:modified xsi:type="dcterms:W3CDTF">2026-08-15T10:19:27.3640000Z</dcterms:modified>
</coreProperties>
</file>