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956f0446a24a7f" /><Relationship Type="http://schemas.openxmlformats.org/officeDocument/2006/relationships/extended-properties" Target="/docProps/app.xml" Id="R92f5d597ea8040a9" /><Relationship Type="http://schemas.openxmlformats.org/officeDocument/2006/relationships/officeDocument" Target="/ppt/presentation.xml" Id="Rd4eadc7c52e54a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618c32e49240dc"/>
  </p:sldMasterIdLst>
  <p:notesMasterIdLst>
    <p:notesMasterId xmlns:r="http://schemas.openxmlformats.org/officeDocument/2006/relationships" r:id="R2b4641b36bc9459a"/>
  </p:notesMasterIdLst>
  <p:sldIdLst>
    <p:sldId xmlns:r="http://schemas.openxmlformats.org/officeDocument/2006/relationships" id="256" r:id="Rea6404b21a354955"/>
    <p:sldId xmlns:r="http://schemas.openxmlformats.org/officeDocument/2006/relationships" id="257" r:id="R8d5bd8a282b74934"/>
    <p:sldId xmlns:r="http://schemas.openxmlformats.org/officeDocument/2006/relationships" id="258" r:id="Rc05855ce8f384df4"/>
    <p:sldId xmlns:r="http://schemas.openxmlformats.org/officeDocument/2006/relationships" id="259" r:id="R249390a2a9eb4f7f"/>
    <p:sldId xmlns:r="http://schemas.openxmlformats.org/officeDocument/2006/relationships" id="260" r:id="Re1598e8daede48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81bc0e48b24ea0" /><Relationship Type="http://schemas.openxmlformats.org/officeDocument/2006/relationships/slideMaster" Target="/ppt/slideMasters/slideMaster1.xml" Id="R9f618c32e49240dc" /><Relationship Type="http://schemas.openxmlformats.org/officeDocument/2006/relationships/notesMaster" Target="/ppt/notesMasters/notesMaster1.xml" Id="R2b4641b36bc9459a" /><Relationship Type="http://schemas.openxmlformats.org/officeDocument/2006/relationships/presProps" Target="/ppt/presProps.xml" Id="R4377e2d9d6864bca" /><Relationship Type="http://schemas.openxmlformats.org/officeDocument/2006/relationships/tableStyles" Target="/ppt/tableStyles.xml" Id="Redd06cd2fa56407e" /><Relationship Type="http://schemas.openxmlformats.org/officeDocument/2006/relationships/slide" Target="/ppt/slides/slide1.xml" Id="Rea6404b21a354955" /><Relationship Type="http://schemas.openxmlformats.org/officeDocument/2006/relationships/slide" Target="/ppt/slides/slide2.xml" Id="R8d5bd8a282b74934" /><Relationship Type="http://schemas.openxmlformats.org/officeDocument/2006/relationships/slide" Target="/ppt/slides/slide3.xml" Id="Rc05855ce8f384df4" /><Relationship Type="http://schemas.openxmlformats.org/officeDocument/2006/relationships/slide" Target="/ppt/slides/slide4.xml" Id="R249390a2a9eb4f7f" /><Relationship Type="http://schemas.openxmlformats.org/officeDocument/2006/relationships/slide" Target="/ppt/slides/slide5.xml" Id="Re1598e8daede48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7b617ac8a246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14e533d292454e" /><Relationship Type="http://schemas.openxmlformats.org/officeDocument/2006/relationships/notesMaster" Target="/ppt/notesMasters/notesMaster1.xml" Id="R8761fd6bdc854c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a4da7f74b445a1" /><Relationship Type="http://schemas.openxmlformats.org/officeDocument/2006/relationships/notesMaster" Target="/ppt/notesMasters/notesMaster1.xml" Id="R70dbb6d25cb745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68275799e3436a" /><Relationship Type="http://schemas.openxmlformats.org/officeDocument/2006/relationships/notesMaster" Target="/ppt/notesMasters/notesMaster1.xml" Id="Rf9cc38384e3845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4f0d4bf3674ac2" /><Relationship Type="http://schemas.openxmlformats.org/officeDocument/2006/relationships/notesMaster" Target="/ppt/notesMasters/notesMaster1.xml" Id="R98b28fc357a147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b60843a9c74846" /><Relationship Type="http://schemas.openxmlformats.org/officeDocument/2006/relationships/notesMaster" Target="/ppt/notesMasters/notesMaster1.xml" Id="Rfd1cd308849447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3fa7cd880a44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beb956bafe48fb" /><Relationship Type="http://schemas.openxmlformats.org/officeDocument/2006/relationships/slideLayout" Target="/ppt/slideLayouts/slideLayout1.xml" Id="R997c265b80094b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7c265b80094b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fc61741b7439b" /><Relationship Type="http://schemas.openxmlformats.org/officeDocument/2006/relationships/image" Target="/ppt/media/image.png" Id="Rcbd48f13802d4cad" /><Relationship Type="http://schemas.openxmlformats.org/officeDocument/2006/relationships/notesSlide" Target="/ppt/notesSlides/notesSlide1.xml" Id="R9ab5c3eb499e4b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ed1fa16854679" /><Relationship Type="http://schemas.openxmlformats.org/officeDocument/2006/relationships/image" Target="/ppt/media/image2.png" Id="Ra4d5187dcbac41e7" /><Relationship Type="http://schemas.openxmlformats.org/officeDocument/2006/relationships/notesSlide" Target="/ppt/notesSlides/notesSlide2.xml" Id="R7ae4221979fc4d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9b26e080f4a0d" /><Relationship Type="http://schemas.openxmlformats.org/officeDocument/2006/relationships/image" Target="/ppt/media/image3.png" Id="R83f660985c54484e" /><Relationship Type="http://schemas.openxmlformats.org/officeDocument/2006/relationships/notesSlide" Target="/ppt/notesSlides/notesSlide3.xml" Id="Rcd519504e64c4c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da1fcd71b445cd" /><Relationship Type="http://schemas.openxmlformats.org/officeDocument/2006/relationships/image" Target="/ppt/media/image4.png" Id="R8ac19daed525485e" /><Relationship Type="http://schemas.openxmlformats.org/officeDocument/2006/relationships/notesSlide" Target="/ppt/notesSlides/notesSlide4.xml" Id="R9cec153802344b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c27a01a71494a" /><Relationship Type="http://schemas.openxmlformats.org/officeDocument/2006/relationships/notesSlide" Target="/ppt/notesSlides/notesSlide5.xml" Id="R29a8cde5400f4e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48f13802d4cad"/>
          <a:stretch xmlns:a="http://schemas.openxmlformats.org/drawingml/2006/main"/>
        </p:blipFill>
        <p:spPr>
          <a:xfrm xmlns:a="http://schemas.openxmlformats.org/drawingml/2006/main">
            <a:off x="6667500" y="1294254"/>
            <a:ext cx="5524500" cy="4269491"/>
          </a:xfrm>
          <a:prstGeom xmlns:a="http://schemas.openxmlformats.org/drawingml/2006/main" prst="rect">
            <a:avLst/>
          </a:prstGeom>
        </p:spPr>
      </p:pic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7B3B211C-0411-4A74-BC31-4D31929A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ED9E259F-56A4-43F3-A231-B35B6EBB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5FA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5FAD"/>
                </a:solidFill>
                <a:latin typeface="Arial"/>
                <a:ea typeface="Arial"/>
                <a:cs typeface="Arial"/>
              </a:rPr>
              <a:t>MODULE 9 OF 10 · WEEKS 17–18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6EA9B6D-C1AC-4151-96E3-EA9EEE71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5238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Portfolio evidence and PMI evaluation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DDBBFBF-4C41-4294-8156-319813E8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26579"/>
                </a:solidFill>
                <a:latin typeface="Arial"/>
                <a:ea typeface="Arial"/>
                <a:cs typeface="Arial"/>
              </a:rPr>
              <a:t>Use the Clock drawing, the three theory sections and the module evidence in sequence.</a:t>
            </a:r>
          </a:p>
        </p:txBody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4A85B6FC-5ED1-4B5D-B0B6-9ECB6FDA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579"/>
                </a:solidFill>
                <a:latin typeface="Arial"/>
                <a:ea typeface="Arial"/>
                <a:cs typeface="Arial"/>
              </a:rPr>
              <a:t>Clock Guided Course</a:t>
            </a:r>
          </a:p>
        </p:txBody>
      </p:sp>
    </p:spTree>
    <p:extLst>
      <p:ext uri="{BB962C8B-B14F-4D97-AF65-F5344CB8AC3E}">
        <p14:creationId xmlns:p14="http://schemas.microsoft.com/office/powerpoint/2010/main" val="1030258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abel-2">
            <a:extLst xmlns:a="http://schemas.openxmlformats.org/drawingml/2006/main">
              <a:ext uri="{FF2B5EF4-FFF2-40B4-BE49-F238E27FC236}">
                <a16:creationId xmlns:a16="http://schemas.microsoft.com/office/drawing/2014/main" id="{70A98B5D-77CE-47EB-AE1E-25239C47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5F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5FAD"/>
                </a:solidFill>
                <a:latin typeface="Arial"/>
                <a:ea typeface="Arial"/>
                <a:cs typeface="Arial"/>
              </a:rPr>
              <a:t>MODULE 9 OF 10 · WEEKS 17–18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E50D5841-EB3C-47F5-9BE0-0114EBC5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57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5187dcbac41e7"/>
          <a:stretch xmlns:a="http://schemas.openxmlformats.org/drawingml/2006/main"/>
        </p:blipFill>
        <p:spPr>
          <a:xfrm xmlns:a="http://schemas.openxmlformats.org/drawingml/2006/main">
            <a:off x="6572250" y="1847605"/>
            <a:ext cx="5619750" cy="3162790"/>
          </a:xfrm>
          <a:prstGeom xmlns:a="http://schemas.openxmlformats.org/drawingml/2006/main" prst="rect">
            <a:avLst/>
          </a:prstGeom>
        </p:spPr>
      </p:pic>
      <p:sp>
        <p:nvSpPr>
          <p:cNvPr id="4" name="topic-title-0">
            <a:extLst xmlns:a="http://schemas.openxmlformats.org/drawingml/2006/main">
              <a:ext uri="{FF2B5EF4-FFF2-40B4-BE49-F238E27FC236}">
                <a16:creationId xmlns:a16="http://schemas.microsoft.com/office/drawing/2014/main" id="{758673AA-BA8E-4675-A94E-91005D50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4953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Building an authentic Clock project folio</a:t>
            </a:r>
          </a:p>
        </p:txBody>
      </p:sp>
      <p:sp>
        <p:nvSpPr>
          <p:cNvPr id="5" name="topic-body-0">
            <a:extLst xmlns:a="http://schemas.openxmlformats.org/drawingml/2006/main">
              <a:ext uri="{FF2B5EF4-FFF2-40B4-BE49-F238E27FC236}">
                <a16:creationId xmlns:a16="http://schemas.microsoft.com/office/drawing/2014/main" id="{3F7BC1AF-D17F-47D1-929D-F759F93B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38450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26579"/>
                </a:solidFill>
                <a:latin typeface="Arial"/>
                <a:ea typeface="Arial"/>
                <a:cs typeface="Arial"/>
              </a:rPr>
              <a:t>Your Clock project folio should tell the clear story of how the project was planned, made, checked and evaluated. It is not a scrapbook of unrelated worksheets and photographs.</a:t>
            </a:r>
          </a:p>
        </p:txBody>
      </p:sp>
      <p:sp>
        <p:nvSpPr>
          <p:cNvPr id="6" name="check-rule-0">
            <a:extLst xmlns:a="http://schemas.openxmlformats.org/drawingml/2006/main">
              <a:ext uri="{FF2B5EF4-FFF2-40B4-BE49-F238E27FC236}">
                <a16:creationId xmlns:a16="http://schemas.microsoft.com/office/drawing/2014/main" id="{C6832B92-4080-4C3B-A51E-5604A01A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topic-check-0">
            <a:extLst xmlns:a="http://schemas.openxmlformats.org/drawingml/2006/main">
              <a:ext uri="{FF2B5EF4-FFF2-40B4-BE49-F238E27FC236}">
                <a16:creationId xmlns:a16="http://schemas.microsoft.com/office/drawing/2014/main" id="{4B2D7D77-A0F4-4BF4-94EC-E03DCA9A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A strong Clock folio links planning, practical evidence, quality checks and evaluation into one honest, organised account of how the project developed.</a:t>
            </a:r>
          </a:p>
        </p:txBody>
      </p:sp>
    </p:spTree>
    <p:extLst>
      <p:ext uri="{BB962C8B-B14F-4D97-AF65-F5344CB8AC3E}">
        <p14:creationId xmlns:p14="http://schemas.microsoft.com/office/powerpoint/2010/main" val="15330287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label-3">
            <a:extLst xmlns:a="http://schemas.openxmlformats.org/drawingml/2006/main">
              <a:ext uri="{FF2B5EF4-FFF2-40B4-BE49-F238E27FC236}">
                <a16:creationId xmlns:a16="http://schemas.microsoft.com/office/drawing/2014/main" id="{1D2AADBD-3F2E-4A22-8803-CB200481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5F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5FAD"/>
                </a:solidFill>
                <a:latin typeface="Arial"/>
                <a:ea typeface="Arial"/>
                <a:cs typeface="Arial"/>
              </a:rPr>
              <a:t>MODULE 9 OF 10 · WEEKS 17–18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D4B9A2C2-2D67-4039-A867-C6E2E116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57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accent-1">
            <a:extLst xmlns:a="http://schemas.openxmlformats.org/drawingml/2006/main">
              <a:ext uri="{FF2B5EF4-FFF2-40B4-BE49-F238E27FC236}">
                <a16:creationId xmlns:a16="http://schemas.microsoft.com/office/drawing/2014/main" id="{98CA7002-7D34-405B-9002-352C4761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f660985c54484e"/>
          <a:stretch xmlns:a="http://schemas.openxmlformats.org/drawingml/2006/main"/>
        </p:blipFill>
        <p:spPr>
          <a:xfrm xmlns:a="http://schemas.openxmlformats.org/drawingml/2006/main">
            <a:off x="0" y="1847605"/>
            <a:ext cx="5619750" cy="3162790"/>
          </a:xfrm>
          <a:prstGeom xmlns:a="http://schemas.openxmlformats.org/drawingml/2006/main" prst="rect">
            <a:avLst/>
          </a:prstGeom>
        </p:spPr>
      </p:pic>
      <p:sp>
        <p:nvSpPr>
          <p:cNvPr id="5" name="topic-title-1">
            <a:extLst xmlns:a="http://schemas.openxmlformats.org/drawingml/2006/main">
              <a:ext uri="{FF2B5EF4-FFF2-40B4-BE49-F238E27FC236}">
                <a16:creationId xmlns:a16="http://schemas.microsoft.com/office/drawing/2014/main" id="{D7B0B8A3-A1EF-432F-97CE-1D11214C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04900"/>
            <a:ext cx="4953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Photographing and captioning key Clock construction stages</a:t>
            </a:r>
          </a:p>
        </p:txBody>
      </p:sp>
      <p:sp>
        <p:nvSpPr>
          <p:cNvPr id="6" name="topic-body-1">
            <a:extLst xmlns:a="http://schemas.openxmlformats.org/drawingml/2006/main">
              <a:ext uri="{FF2B5EF4-FFF2-40B4-BE49-F238E27FC236}">
                <a16:creationId xmlns:a16="http://schemas.microsoft.com/office/drawing/2014/main" id="{B8463A4B-9073-4BFF-B10B-385D1156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38450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26579"/>
                </a:solidFill>
                <a:latin typeface="Arial"/>
                <a:ea typeface="Arial"/>
                <a:cs typeface="Arial"/>
              </a:rPr>
              <a:t>Photographs in your Clock folio should provide evidence of how the project developed, not simply prove that you were in the workshop. A strong set of images shows important stages, decisions and quality checks in a logical order.</a:t>
            </a:r>
          </a:p>
        </p:txBody>
      </p:sp>
      <p:sp>
        <p:nvSpPr>
          <p:cNvPr id="7" name="check-rule-1">
            <a:extLst xmlns:a="http://schemas.openxmlformats.org/drawingml/2006/main">
              <a:ext uri="{FF2B5EF4-FFF2-40B4-BE49-F238E27FC236}">
                <a16:creationId xmlns:a16="http://schemas.microsoft.com/office/drawing/2014/main" id="{B3170958-4708-42C7-B785-B7B0D5E2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topic-check-1">
            <a:extLst xmlns:a="http://schemas.openxmlformats.org/drawingml/2006/main">
              <a:ext uri="{FF2B5EF4-FFF2-40B4-BE49-F238E27FC236}">
                <a16:creationId xmlns:a16="http://schemas.microsoft.com/office/drawing/2014/main" id="{2C54D1FE-83AF-483D-811D-FF34B26B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2920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Take each photograph for a clear reason, then write a caption that names the stage, explains the decision or quality check, and records the work safely and honestly.</a:t>
            </a:r>
          </a:p>
        </p:txBody>
      </p:sp>
    </p:spTree>
    <p:extLst>
      <p:ext uri="{BB962C8B-B14F-4D97-AF65-F5344CB8AC3E}">
        <p14:creationId xmlns:p14="http://schemas.microsoft.com/office/powerpoint/2010/main" val="5938168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abel-4">
            <a:extLst xmlns:a="http://schemas.openxmlformats.org/drawingml/2006/main">
              <a:ext uri="{FF2B5EF4-FFF2-40B4-BE49-F238E27FC236}">
                <a16:creationId xmlns:a16="http://schemas.microsoft.com/office/drawing/2014/main" id="{DB89BCFD-B9B2-4D3B-934D-581FB275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5F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5FAD"/>
                </a:solidFill>
                <a:latin typeface="Arial"/>
                <a:ea typeface="Arial"/>
                <a:cs typeface="Arial"/>
              </a:rPr>
              <a:t>MODULE 9 OF 10 · WEEKS 17–18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8A722071-5EAA-4984-B1A8-C5A01912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57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c19daed525485e"/>
          <a:stretch xmlns:a="http://schemas.openxmlformats.org/drawingml/2006/main"/>
        </p:blipFill>
        <p:spPr>
          <a:xfrm xmlns:a="http://schemas.openxmlformats.org/drawingml/2006/main">
            <a:off x="6572250" y="1847605"/>
            <a:ext cx="5619750" cy="3162790"/>
          </a:xfrm>
          <a:prstGeom xmlns:a="http://schemas.openxmlformats.org/drawingml/2006/main" prst="rect">
            <a:avLst/>
          </a:prstGeom>
        </p:spPr>
      </p:pic>
      <p:sp>
        <p:nvSpPr>
          <p:cNvPr id="4" name="topic-title-2">
            <a:extLst xmlns:a="http://schemas.openxmlformats.org/drawingml/2006/main">
              <a:ext uri="{FF2B5EF4-FFF2-40B4-BE49-F238E27FC236}">
                <a16:creationId xmlns:a16="http://schemas.microsoft.com/office/drawing/2014/main" id="{563B517E-DB98-4E0D-891A-356036E8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4953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Using PMI to evaluate the finished Clock</a:t>
            </a:r>
          </a:p>
        </p:txBody>
      </p:sp>
      <p:sp>
        <p:nvSpPr>
          <p:cNvPr id="5" name="topic-body-2">
            <a:extLst xmlns:a="http://schemas.openxmlformats.org/drawingml/2006/main">
              <a:ext uri="{FF2B5EF4-FFF2-40B4-BE49-F238E27FC236}">
                <a16:creationId xmlns:a16="http://schemas.microsoft.com/office/drawing/2014/main" id="{AC057E84-D154-4153-884E-313950C7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38450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26579"/>
                </a:solidFill>
                <a:latin typeface="Arial"/>
                <a:ea typeface="Arial"/>
                <a:cs typeface="Arial"/>
              </a:rPr>
              <a:t>A PMI evaluation uses three viewpoints: Plus , Minus and Interesting . It helps you move beyond saying that the finished Clock is simply “good” or “bad”.</a:t>
            </a:r>
          </a:p>
        </p:txBody>
      </p:sp>
      <p:sp>
        <p:nvSpPr>
          <p:cNvPr id="6" name="check-rule-2">
            <a:extLst xmlns:a="http://schemas.openxmlformats.org/drawingml/2006/main">
              <a:ext uri="{FF2B5EF4-FFF2-40B4-BE49-F238E27FC236}">
                <a16:creationId xmlns:a16="http://schemas.microsoft.com/office/drawing/2014/main" id="{81AF3165-2984-4C26-B546-7DC75C15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topic-check-2">
            <a:extLst xmlns:a="http://schemas.openxmlformats.org/drawingml/2006/main">
              <a:ext uri="{FF2B5EF4-FFF2-40B4-BE49-F238E27FC236}">
                <a16:creationId xmlns:a16="http://schemas.microsoft.com/office/drawing/2014/main" id="{845130B5-9397-40E2-84C7-6A748C54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A strong PMI evaluation uses specific evidence from the finished Clock to explain what succeeded, what needs improvement, what was learned and what realistic change would produce a better…</a:t>
            </a:r>
          </a:p>
        </p:txBody>
      </p:sp>
    </p:spTree>
    <p:extLst>
      <p:ext uri="{BB962C8B-B14F-4D97-AF65-F5344CB8AC3E}">
        <p14:creationId xmlns:p14="http://schemas.microsoft.com/office/powerpoint/2010/main" val="18858286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label-5">
            <a:extLst xmlns:a="http://schemas.openxmlformats.org/drawingml/2006/main">
              <a:ext uri="{FF2B5EF4-FFF2-40B4-BE49-F238E27FC236}">
                <a16:creationId xmlns:a16="http://schemas.microsoft.com/office/drawing/2014/main" id="{6100350E-06B0-47F5-A958-B6C41957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5F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5FAD"/>
                </a:solidFill>
                <a:latin typeface="Arial"/>
                <a:ea typeface="Arial"/>
                <a:cs typeface="Arial"/>
              </a:rPr>
              <a:t>BEFORE YOU MOVE ON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EE05AC0E-321A-4BD9-8736-01DF95E1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57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close-panel">
            <a:extLst xmlns:a="http://schemas.openxmlformats.org/drawingml/2006/main">
              <a:ext uri="{FF2B5EF4-FFF2-40B4-BE49-F238E27FC236}">
                <a16:creationId xmlns:a16="http://schemas.microsoft.com/office/drawing/2014/main" id="{6342BE52-781D-4976-BC36-2A447891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4" name="close-title">
            <a:extLst xmlns:a="http://schemas.openxmlformats.org/drawingml/2006/main">
              <a:ext uri="{FF2B5EF4-FFF2-40B4-BE49-F238E27FC236}">
                <a16:creationId xmlns:a16="http://schemas.microsoft.com/office/drawing/2014/main" id="{7A0F914B-D6EF-472C-9811-4F55F292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Use these three Clock ideas to complete the Weeks 17–18 checks and evidence.</a:t>
            </a:r>
          </a:p>
        </p:txBody>
      </p:sp>
      <p:sp>
        <p:nvSpPr>
          <p:cNvPr id="5" name="close-action">
            <a:extLst xmlns:a="http://schemas.openxmlformats.org/drawingml/2006/main">
              <a:ext uri="{FF2B5EF4-FFF2-40B4-BE49-F238E27FC236}">
                <a16:creationId xmlns:a16="http://schemas.microsoft.com/office/drawing/2014/main" id="{74D895AF-05BC-4C89-A123-034BB89B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26579"/>
                </a:solidFill>
                <a:latin typeface="Arial"/>
                <a:ea typeface="Arial"/>
                <a:cs typeface="Arial"/>
              </a:rPr>
              <a:t>Complete the knowledge checks and written responses, then download your evidence as directed.</a:t>
            </a:r>
          </a:p>
        </p:txBody>
      </p:sp>
    </p:spTree>
    <p:extLst>
      <p:ext uri="{BB962C8B-B14F-4D97-AF65-F5344CB8AC3E}">
        <p14:creationId xmlns:p14="http://schemas.microsoft.com/office/powerpoint/2010/main" val="7953802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2026-08-15T10:19:30.5250000Z</dcterms:created>
  <dcterms:modified xsi:type="dcterms:W3CDTF">2026-08-15T10:19:30.5250000Z</dcterms:modified>
</coreProperties>
</file>