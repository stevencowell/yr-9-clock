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c1bd414a0d4df5" /><Relationship Type="http://schemas.openxmlformats.org/officeDocument/2006/relationships/extended-properties" Target="/docProps/app.xml" Id="R1915638ad0234944" /><Relationship Type="http://schemas.openxmlformats.org/officeDocument/2006/relationships/officeDocument" Target="/ppt/presentation.xml" Id="Rbdff51e4e7bf46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d199764a1e466d"/>
  </p:sldMasterIdLst>
  <p:notesMasterIdLst>
    <p:notesMasterId xmlns:r="http://schemas.openxmlformats.org/officeDocument/2006/relationships" r:id="R82ff47b44de14336"/>
  </p:notesMasterIdLst>
  <p:sldIdLst>
    <p:sldId xmlns:r="http://schemas.openxmlformats.org/officeDocument/2006/relationships" id="256" r:id="R07566bfd20e044c6"/>
    <p:sldId xmlns:r="http://schemas.openxmlformats.org/officeDocument/2006/relationships" id="257" r:id="R3a1e5fa270be46e4"/>
    <p:sldId xmlns:r="http://schemas.openxmlformats.org/officeDocument/2006/relationships" id="258" r:id="R42b6cd0380874ef0"/>
    <p:sldId xmlns:r="http://schemas.openxmlformats.org/officeDocument/2006/relationships" id="259" r:id="R660ad6d937d74e5b"/>
    <p:sldId xmlns:r="http://schemas.openxmlformats.org/officeDocument/2006/relationships" id="260" r:id="Rf316d01c82c849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c7288d994c4669" /><Relationship Type="http://schemas.openxmlformats.org/officeDocument/2006/relationships/slideMaster" Target="/ppt/slideMasters/slideMaster1.xml" Id="Rb7d199764a1e466d" /><Relationship Type="http://schemas.openxmlformats.org/officeDocument/2006/relationships/notesMaster" Target="/ppt/notesMasters/notesMaster1.xml" Id="R82ff47b44de14336" /><Relationship Type="http://schemas.openxmlformats.org/officeDocument/2006/relationships/presProps" Target="/ppt/presProps.xml" Id="R79cd00111a5f4350" /><Relationship Type="http://schemas.openxmlformats.org/officeDocument/2006/relationships/tableStyles" Target="/ppt/tableStyles.xml" Id="Rf216f44844f44d40" /><Relationship Type="http://schemas.openxmlformats.org/officeDocument/2006/relationships/slide" Target="/ppt/slides/slide1.xml" Id="R07566bfd20e044c6" /><Relationship Type="http://schemas.openxmlformats.org/officeDocument/2006/relationships/slide" Target="/ppt/slides/slide2.xml" Id="R3a1e5fa270be46e4" /><Relationship Type="http://schemas.openxmlformats.org/officeDocument/2006/relationships/slide" Target="/ppt/slides/slide3.xml" Id="R42b6cd0380874ef0" /><Relationship Type="http://schemas.openxmlformats.org/officeDocument/2006/relationships/slide" Target="/ppt/slides/slide4.xml" Id="R660ad6d937d74e5b" /><Relationship Type="http://schemas.openxmlformats.org/officeDocument/2006/relationships/slide" Target="/ppt/slides/slide5.xml" Id="Rf316d01c82c849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6858ce9c4849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ab7256b907461e" /><Relationship Type="http://schemas.openxmlformats.org/officeDocument/2006/relationships/notesMaster" Target="/ppt/notesMasters/notesMaster1.xml" Id="Reab6fd89e0bd4f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234e05e4ec4a59" /><Relationship Type="http://schemas.openxmlformats.org/officeDocument/2006/relationships/notesMaster" Target="/ppt/notesMasters/notesMaster1.xml" Id="R8722c730ed6743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12d1e57414484c" /><Relationship Type="http://schemas.openxmlformats.org/officeDocument/2006/relationships/notesMaster" Target="/ppt/notesMasters/notesMaster1.xml" Id="Rbaff078e899e49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36cc2a53324a08" /><Relationship Type="http://schemas.openxmlformats.org/officeDocument/2006/relationships/notesMaster" Target="/ppt/notesMasters/notesMaster1.xml" Id="Rb85905711d2a47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48b7e42b1e41f5" /><Relationship Type="http://schemas.openxmlformats.org/officeDocument/2006/relationships/notesMaster" Target="/ppt/notesMasters/notesMaster1.xml" Id="R6117cde61a5c41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81e107efdc46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c8b53e98214adb" /><Relationship Type="http://schemas.openxmlformats.org/officeDocument/2006/relationships/slideLayout" Target="/ppt/slideLayouts/slideLayout1.xml" Id="R7565313cab754c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65313cab754c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8313db6704882" /><Relationship Type="http://schemas.openxmlformats.org/officeDocument/2006/relationships/image" Target="/ppt/media/image.png" Id="R669438bd0e964cd6" /><Relationship Type="http://schemas.openxmlformats.org/officeDocument/2006/relationships/notesSlide" Target="/ppt/notesSlides/notesSlide1.xml" Id="R55b8f1d600d64e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de566eced4c6c" /><Relationship Type="http://schemas.openxmlformats.org/officeDocument/2006/relationships/image" Target="/ppt/media/image.bin" Id="Rbe3f81cdf0ef4d81" /><Relationship Type="http://schemas.openxmlformats.org/officeDocument/2006/relationships/notesSlide" Target="/ppt/notesSlides/notesSlide2.xml" Id="R94a5ed13e3804b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fea5a50ff41fa" /><Relationship Type="http://schemas.openxmlformats.org/officeDocument/2006/relationships/image" Target="/ppt/media/image2.bin" Id="R6da65fc8148f4370" /><Relationship Type="http://schemas.openxmlformats.org/officeDocument/2006/relationships/notesSlide" Target="/ppt/notesSlides/notesSlide3.xml" Id="R82f379d3000741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1a49f611944ec4" /><Relationship Type="http://schemas.openxmlformats.org/officeDocument/2006/relationships/image" Target="/ppt/media/image2.png" Id="R86d4157dfab543dd" /><Relationship Type="http://schemas.openxmlformats.org/officeDocument/2006/relationships/notesSlide" Target="/ppt/notesSlides/notesSlide4.xml" Id="Rec9ce415507442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edf609f5548a7" /><Relationship Type="http://schemas.openxmlformats.org/officeDocument/2006/relationships/notesSlide" Target="/ppt/notesSlides/notesSlide5.xml" Id="R5b728fee68d44e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9438bd0e964cd6"/>
          <a:stretch xmlns:a="http://schemas.openxmlformats.org/drawingml/2006/main"/>
        </p:blipFill>
        <p:spPr>
          <a:xfrm xmlns:a="http://schemas.openxmlformats.org/drawingml/2006/main">
            <a:off x="6667500" y="1294254"/>
            <a:ext cx="5524500" cy="4269491"/>
          </a:xfrm>
          <a:prstGeom xmlns:a="http://schemas.openxmlformats.org/drawingml/2006/main" prst="rect">
            <a:avLst/>
          </a:prstGeom>
        </p:spPr>
      </p:pic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454BADF0-859C-4A9D-8733-F63C3DD6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E32C2471-4345-43F6-87B2-FE497EF4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5FA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5FAD"/>
                </a:solidFill>
                <a:latin typeface="Arial"/>
                <a:ea typeface="Arial"/>
                <a:cs typeface="Arial"/>
              </a:rPr>
              <a:t>MODULE 3 OF 10 · WEEKS 5–6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73EBB30-B5A9-4013-841A-20D12134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5238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Face opening, drill press SOP and tool care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4DEB657-90D1-4FF4-BB82-7142E495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26579"/>
                </a:solidFill>
                <a:latin typeface="Arial"/>
                <a:ea typeface="Arial"/>
                <a:cs typeface="Arial"/>
              </a:rPr>
              <a:t>Use the Clock drawing, the three theory sections and the module evidence in sequence.</a:t>
            </a:r>
          </a:p>
        </p:txBody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BE6D5697-5398-4949-BA50-F43B4A78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579"/>
                </a:solidFill>
                <a:latin typeface="Arial"/>
                <a:ea typeface="Arial"/>
                <a:cs typeface="Arial"/>
              </a:rPr>
              <a:t>Clock Guided Course</a:t>
            </a:r>
          </a:p>
        </p:txBody>
      </p:sp>
    </p:spTree>
    <p:extLst>
      <p:ext uri="{BB962C8B-B14F-4D97-AF65-F5344CB8AC3E}">
        <p14:creationId xmlns:p14="http://schemas.microsoft.com/office/powerpoint/2010/main" val="1491374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abel-2">
            <a:extLst xmlns:a="http://schemas.openxmlformats.org/drawingml/2006/main">
              <a:ext uri="{FF2B5EF4-FFF2-40B4-BE49-F238E27FC236}">
                <a16:creationId xmlns:a16="http://schemas.microsoft.com/office/drawing/2014/main" id="{20E909E9-A2DE-4EF7-9A28-55E848FB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5F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5FAD"/>
                </a:solidFill>
                <a:latin typeface="Arial"/>
                <a:ea typeface="Arial"/>
                <a:cs typeface="Arial"/>
              </a:rPr>
              <a:t>MODULE 3 OF 10 · WEEKS 5–6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6C9F1372-AC42-4AC6-BFF4-6BDA8AC4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57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f81cdf0ef4d81"/>
          <a:stretch xmlns:a="http://schemas.openxmlformats.org/drawingml/2006/main"/>
        </p:blipFill>
        <p:spPr>
          <a:xfrm xmlns:a="http://schemas.openxmlformats.org/drawingml/2006/main">
            <a:off x="6572250" y="1556419"/>
            <a:ext cx="5619750" cy="3745162"/>
          </a:xfrm>
          <a:prstGeom xmlns:a="http://schemas.openxmlformats.org/drawingml/2006/main" prst="rect">
            <a:avLst/>
          </a:prstGeom>
        </p:spPr>
      </p:pic>
      <p:sp>
        <p:nvSpPr>
          <p:cNvPr id="4" name="topic-title-0">
            <a:extLst xmlns:a="http://schemas.openxmlformats.org/drawingml/2006/main">
              <a:ext uri="{FF2B5EF4-FFF2-40B4-BE49-F238E27FC236}">
                <a16:creationId xmlns:a16="http://schemas.microsoft.com/office/drawing/2014/main" id="{CEC11BFB-A675-494E-B5CA-5C9C5C4D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4953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Planning and drilling the Clock face opening</a:t>
            </a:r>
          </a:p>
        </p:txBody>
      </p:sp>
      <p:sp>
        <p:nvSpPr>
          <p:cNvPr id="5" name="topic-body-0">
            <a:extLst xmlns:a="http://schemas.openxmlformats.org/drawingml/2006/main">
              <a:ext uri="{FF2B5EF4-FFF2-40B4-BE49-F238E27FC236}">
                <a16:creationId xmlns:a16="http://schemas.microsoft.com/office/drawing/2014/main" id="{0B1ED660-9258-4270-A964-F5B84AFE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38450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26579"/>
                </a:solidFill>
                <a:latin typeface="Arial"/>
                <a:ea typeface="Arial"/>
                <a:cs typeface="Arial"/>
              </a:rPr>
              <a:t>The Clock face opening must be positioned accurately because it affects both the appearance and function of the finished project. If the opening is off-centre, too close to an edge or incorrectly located, the clock mechanism may not fit as intended and the front face…</a:t>
            </a:r>
          </a:p>
        </p:txBody>
      </p:sp>
      <p:sp>
        <p:nvSpPr>
          <p:cNvPr id="6" name="check-rule-0">
            <a:extLst xmlns:a="http://schemas.openxmlformats.org/drawingml/2006/main">
              <a:ext uri="{FF2B5EF4-FFF2-40B4-BE49-F238E27FC236}">
                <a16:creationId xmlns:a16="http://schemas.microsoft.com/office/drawing/2014/main" id="{68C5F3BB-A42C-4776-A28E-458682CF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topic-check-0">
            <a:extLst xmlns:a="http://schemas.openxmlformats.org/drawingml/2006/main">
              <a:ext uri="{FF2B5EF4-FFF2-40B4-BE49-F238E27FC236}">
                <a16:creationId xmlns:a16="http://schemas.microsoft.com/office/drawing/2014/main" id="{10FD3AE8-8C43-48CB-9E36-6E6499AA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Accurate marking, secure work and strict use of the school SOP turn the Clock face opening from a risky guess into a controlled and assessable operation.</a:t>
            </a:r>
          </a:p>
        </p:txBody>
      </p:sp>
    </p:spTree>
    <p:extLst>
      <p:ext uri="{BB962C8B-B14F-4D97-AF65-F5344CB8AC3E}">
        <p14:creationId xmlns:p14="http://schemas.microsoft.com/office/powerpoint/2010/main" val="13544183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label-3">
            <a:extLst xmlns:a="http://schemas.openxmlformats.org/drawingml/2006/main">
              <a:ext uri="{FF2B5EF4-FFF2-40B4-BE49-F238E27FC236}">
                <a16:creationId xmlns:a16="http://schemas.microsoft.com/office/drawing/2014/main" id="{FBCF324B-23AA-49B7-961D-3C17A399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5F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5FAD"/>
                </a:solidFill>
                <a:latin typeface="Arial"/>
                <a:ea typeface="Arial"/>
                <a:cs typeface="Arial"/>
              </a:rPr>
              <a:t>MODULE 3 OF 10 · WEEKS 5–6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5DEC6C72-C215-45AD-B07A-417BDCEA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57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accent-1">
            <a:extLst xmlns:a="http://schemas.openxmlformats.org/drawingml/2006/main">
              <a:ext uri="{FF2B5EF4-FFF2-40B4-BE49-F238E27FC236}">
                <a16:creationId xmlns:a16="http://schemas.microsoft.com/office/drawing/2014/main" id="{D2F86425-EC3D-4CE4-B80E-52AF8E70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a65fc8148f4370"/>
          <a:stretch xmlns:a="http://schemas.openxmlformats.org/drawingml/2006/main"/>
        </p:blipFill>
        <p:spPr>
          <a:xfrm xmlns:a="http://schemas.openxmlformats.org/drawingml/2006/main">
            <a:off x="0" y="1556419"/>
            <a:ext cx="5619750" cy="3745162"/>
          </a:xfrm>
          <a:prstGeom xmlns:a="http://schemas.openxmlformats.org/drawingml/2006/main" prst="rect">
            <a:avLst/>
          </a:prstGeom>
        </p:spPr>
      </p:pic>
      <p:sp>
        <p:nvSpPr>
          <p:cNvPr id="5" name="topic-title-1">
            <a:extLst xmlns:a="http://schemas.openxmlformats.org/drawingml/2006/main">
              <a:ext uri="{FF2B5EF4-FFF2-40B4-BE49-F238E27FC236}">
                <a16:creationId xmlns:a16="http://schemas.microsoft.com/office/drawing/2014/main" id="{3FBF57EB-56C5-437E-AE9C-F342743F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04900"/>
            <a:ext cx="4953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Building an accurate drill press Safe Operating Procedure</a:t>
            </a:r>
          </a:p>
        </p:txBody>
      </p:sp>
      <p:sp>
        <p:nvSpPr>
          <p:cNvPr id="6" name="topic-body-1">
            <a:extLst xmlns:a="http://schemas.openxmlformats.org/drawingml/2006/main">
              <a:ext uri="{FF2B5EF4-FFF2-40B4-BE49-F238E27FC236}">
                <a16:creationId xmlns:a16="http://schemas.microsoft.com/office/drawing/2014/main" id="{16194201-4A8C-4DA5-97BD-32E83EF9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38450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26579"/>
                </a:solidFill>
                <a:latin typeface="Arial"/>
                <a:ea typeface="Arial"/>
                <a:cs typeface="Arial"/>
              </a:rPr>
              <a:t>A Safe Operating Procedure, or SOP, is a written guide that explains how a machine is prepared, used and left safely. It does more than list hazards. A useful SOP places information in a clear order so the operator can identify the machine, check the work area, confirm…</a:t>
            </a:r>
          </a:p>
        </p:txBody>
      </p:sp>
      <p:sp>
        <p:nvSpPr>
          <p:cNvPr id="7" name="check-rule-1">
            <a:extLst xmlns:a="http://schemas.openxmlformats.org/drawingml/2006/main">
              <a:ext uri="{FF2B5EF4-FFF2-40B4-BE49-F238E27FC236}">
                <a16:creationId xmlns:a16="http://schemas.microsoft.com/office/drawing/2014/main" id="{5D35694F-BEA8-40B3-A15A-6D34FA7A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topic-check-1">
            <a:extLst xmlns:a="http://schemas.openxmlformats.org/drawingml/2006/main">
              <a:ext uri="{FF2B5EF4-FFF2-40B4-BE49-F238E27FC236}">
                <a16:creationId xmlns:a16="http://schemas.microsoft.com/office/drawing/2014/main" id="{25AC27F5-C245-452C-B6F4-859B47BB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2920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An SOP is accurate only when it reflects the actual school machine, approved controls and teacher-directed process; it must never be completed from memory or guesswork.</a:t>
            </a:r>
          </a:p>
        </p:txBody>
      </p:sp>
    </p:spTree>
    <p:extLst>
      <p:ext uri="{BB962C8B-B14F-4D97-AF65-F5344CB8AC3E}">
        <p14:creationId xmlns:p14="http://schemas.microsoft.com/office/powerpoint/2010/main" val="16803416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abel-4">
            <a:extLst xmlns:a="http://schemas.openxmlformats.org/drawingml/2006/main">
              <a:ext uri="{FF2B5EF4-FFF2-40B4-BE49-F238E27FC236}">
                <a16:creationId xmlns:a16="http://schemas.microsoft.com/office/drawing/2014/main" id="{44AEDD5C-A735-4B6D-BBB3-B28F2BCF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5F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5FAD"/>
                </a:solidFill>
                <a:latin typeface="Arial"/>
                <a:ea typeface="Arial"/>
                <a:cs typeface="Arial"/>
              </a:rPr>
              <a:t>MODULE 3 OF 10 · WEEKS 5–6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596A37D2-31C4-4FD9-A9A6-060F6A98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57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d4157dfab543dd"/>
          <a:stretch xmlns:a="http://schemas.openxmlformats.org/drawingml/2006/main"/>
        </p:blipFill>
        <p:spPr>
          <a:xfrm xmlns:a="http://schemas.openxmlformats.org/drawingml/2006/main">
            <a:off x="7323991" y="857250"/>
            <a:ext cx="4116267" cy="5143500"/>
          </a:xfrm>
          <a:prstGeom xmlns:a="http://schemas.openxmlformats.org/drawingml/2006/main" prst="rect">
            <a:avLst/>
          </a:prstGeom>
        </p:spPr>
      </p:pic>
      <p:sp>
        <p:nvSpPr>
          <p:cNvPr id="4" name="topic-title-2">
            <a:extLst xmlns:a="http://schemas.openxmlformats.org/drawingml/2006/main">
              <a:ext uri="{FF2B5EF4-FFF2-40B4-BE49-F238E27FC236}">
                <a16:creationId xmlns:a16="http://schemas.microsoft.com/office/drawing/2014/main" id="{E5B009F6-FF04-4EF9-A3A4-AC027EBE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4953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Workshop housekeeping and care of Clock tools</a:t>
            </a:r>
          </a:p>
        </p:txBody>
      </p:sp>
      <p:sp>
        <p:nvSpPr>
          <p:cNvPr id="5" name="topic-body-2">
            <a:extLst xmlns:a="http://schemas.openxmlformats.org/drawingml/2006/main">
              <a:ext uri="{FF2B5EF4-FFF2-40B4-BE49-F238E27FC236}">
                <a16:creationId xmlns:a16="http://schemas.microsoft.com/office/drawing/2014/main" id="{C23EEEEF-E0DA-4F4E-8923-5FC59C6E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38450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26579"/>
                </a:solidFill>
                <a:latin typeface="Arial"/>
                <a:ea typeface="Arial"/>
                <a:cs typeface="Arial"/>
              </a:rPr>
              <a:t>Good workshop housekeeping is part of making an accurate and safe timber Clock. A crowded bench, loose off-cuts, dust and tools left in the wrong place can interfere with measuring, marking and checking components.</a:t>
            </a:r>
          </a:p>
        </p:txBody>
      </p:sp>
      <p:sp>
        <p:nvSpPr>
          <p:cNvPr id="6" name="check-rule-2">
            <a:extLst xmlns:a="http://schemas.openxmlformats.org/drawingml/2006/main">
              <a:ext uri="{FF2B5EF4-FFF2-40B4-BE49-F238E27FC236}">
                <a16:creationId xmlns:a16="http://schemas.microsoft.com/office/drawing/2014/main" id="{AFBE55F2-92E3-4B31-A881-489E70AB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topic-check-2">
            <a:extLst xmlns:a="http://schemas.openxmlformats.org/drawingml/2006/main">
              <a:ext uri="{FF2B5EF4-FFF2-40B4-BE49-F238E27FC236}">
                <a16:creationId xmlns:a16="http://schemas.microsoft.com/office/drawing/2014/main" id="{6BFD18D7-4C96-4308-80CE-709AF03A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A tidy bench and well-cared-for tools improve safety, protect accuracy and leave the workshop ready for the next student.</a:t>
            </a:r>
          </a:p>
        </p:txBody>
      </p:sp>
    </p:spTree>
    <p:extLst>
      <p:ext uri="{BB962C8B-B14F-4D97-AF65-F5344CB8AC3E}">
        <p14:creationId xmlns:p14="http://schemas.microsoft.com/office/powerpoint/2010/main" val="10462605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label-5">
            <a:extLst xmlns:a="http://schemas.openxmlformats.org/drawingml/2006/main">
              <a:ext uri="{FF2B5EF4-FFF2-40B4-BE49-F238E27FC236}">
                <a16:creationId xmlns:a16="http://schemas.microsoft.com/office/drawing/2014/main" id="{380F3176-CA46-4193-9AAE-47B96F37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5F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5FAD"/>
                </a:solidFill>
                <a:latin typeface="Arial"/>
                <a:ea typeface="Arial"/>
                <a:cs typeface="Arial"/>
              </a:rPr>
              <a:t>BEFORE YOU MOVE ON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CEC8E63F-3EA8-4553-9EA1-D4BCE464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57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close-panel">
            <a:extLst xmlns:a="http://schemas.openxmlformats.org/drawingml/2006/main">
              <a:ext uri="{FF2B5EF4-FFF2-40B4-BE49-F238E27FC236}">
                <a16:creationId xmlns:a16="http://schemas.microsoft.com/office/drawing/2014/main" id="{95E819C5-B012-40FC-B119-D9B59441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4" name="close-title">
            <a:extLst xmlns:a="http://schemas.openxmlformats.org/drawingml/2006/main">
              <a:ext uri="{FF2B5EF4-FFF2-40B4-BE49-F238E27FC236}">
                <a16:creationId xmlns:a16="http://schemas.microsoft.com/office/drawing/2014/main" id="{F26AEAEA-C197-4391-B856-214D64B6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Use these three Clock ideas to complete the Weeks 5–6 checks and evidence.</a:t>
            </a:r>
          </a:p>
        </p:txBody>
      </p:sp>
      <p:sp>
        <p:nvSpPr>
          <p:cNvPr id="5" name="close-action">
            <a:extLst xmlns:a="http://schemas.openxmlformats.org/drawingml/2006/main">
              <a:ext uri="{FF2B5EF4-FFF2-40B4-BE49-F238E27FC236}">
                <a16:creationId xmlns:a16="http://schemas.microsoft.com/office/drawing/2014/main" id="{8A41B708-A3A6-41E5-B75C-0E12B137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26579"/>
                </a:solidFill>
                <a:latin typeface="Arial"/>
                <a:ea typeface="Arial"/>
                <a:cs typeface="Arial"/>
              </a:rPr>
              <a:t>Complete the knowledge checks and written responses, then download your evidence as directed.</a:t>
            </a:r>
          </a:p>
        </p:txBody>
      </p:sp>
    </p:spTree>
    <p:extLst>
      <p:ext uri="{BB962C8B-B14F-4D97-AF65-F5344CB8AC3E}">
        <p14:creationId xmlns:p14="http://schemas.microsoft.com/office/powerpoint/2010/main" val="10021467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2026-08-15T10:19:26.2110000Z</dcterms:created>
  <dcterms:modified xsi:type="dcterms:W3CDTF">2026-08-15T10:19:26.2110000Z</dcterms:modified>
</coreProperties>
</file>