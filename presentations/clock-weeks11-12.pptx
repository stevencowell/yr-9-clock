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5838983aa8a4828" /><Relationship Type="http://schemas.openxmlformats.org/officeDocument/2006/relationships/extended-properties" Target="/docProps/app.xml" Id="Rd7d0c3d269d7460c" /><Relationship Type="http://schemas.openxmlformats.org/officeDocument/2006/relationships/officeDocument" Target="/ppt/presentation.xml" Id="R3decd46c9ff14064" /></Relationships>
</file>

<file path=ppt/presentation.xml><?xml version="1.0" encoding="utf-8"?>
<p:presentation xmlns:p="http://schemas.openxmlformats.org/presentationml/2006/main">
  <p:sldMasterIdLst>
    <p:sldMasterId xmlns:r="http://schemas.openxmlformats.org/officeDocument/2006/relationships" id="2147483648" r:id="R8621eec9086242f3"/>
  </p:sldMasterIdLst>
  <p:notesMasterIdLst>
    <p:notesMasterId xmlns:r="http://schemas.openxmlformats.org/officeDocument/2006/relationships" r:id="Rb8e3f04c242b4fd7"/>
  </p:notesMasterIdLst>
  <p:sldIdLst>
    <p:sldId xmlns:r="http://schemas.openxmlformats.org/officeDocument/2006/relationships" id="256" r:id="R2740c96897c24e5a"/>
    <p:sldId xmlns:r="http://schemas.openxmlformats.org/officeDocument/2006/relationships" id="257" r:id="R052f8cd9fc574caf"/>
    <p:sldId xmlns:r="http://schemas.openxmlformats.org/officeDocument/2006/relationships" id="258" r:id="R1d31d17ea4f64b13"/>
    <p:sldId xmlns:r="http://schemas.openxmlformats.org/officeDocument/2006/relationships" id="259" r:id="Ra0cf960d72344b1f"/>
    <p:sldId xmlns:r="http://schemas.openxmlformats.org/officeDocument/2006/relationships" id="260" r:id="R1cf68f58be224a6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590b85cfb1148f6" /><Relationship Type="http://schemas.openxmlformats.org/officeDocument/2006/relationships/slideMaster" Target="/ppt/slideMasters/slideMaster1.xml" Id="R8621eec9086242f3" /><Relationship Type="http://schemas.openxmlformats.org/officeDocument/2006/relationships/notesMaster" Target="/ppt/notesMasters/notesMaster1.xml" Id="Rb8e3f04c242b4fd7" /><Relationship Type="http://schemas.openxmlformats.org/officeDocument/2006/relationships/presProps" Target="/ppt/presProps.xml" Id="R313c7efcda404f22" /><Relationship Type="http://schemas.openxmlformats.org/officeDocument/2006/relationships/tableStyles" Target="/ppt/tableStyles.xml" Id="R518414f647b243cd" /><Relationship Type="http://schemas.openxmlformats.org/officeDocument/2006/relationships/slide" Target="/ppt/slides/slide1.xml" Id="R2740c96897c24e5a" /><Relationship Type="http://schemas.openxmlformats.org/officeDocument/2006/relationships/slide" Target="/ppt/slides/slide2.xml" Id="R052f8cd9fc574caf" /><Relationship Type="http://schemas.openxmlformats.org/officeDocument/2006/relationships/slide" Target="/ppt/slides/slide3.xml" Id="R1d31d17ea4f64b13" /><Relationship Type="http://schemas.openxmlformats.org/officeDocument/2006/relationships/slide" Target="/ppt/slides/slide4.xml" Id="Ra0cf960d72344b1f" /><Relationship Type="http://schemas.openxmlformats.org/officeDocument/2006/relationships/slide" Target="/ppt/slides/slide5.xml" Id="R1cf68f58be224a6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f857be10d574d5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d630cde9b13434c" /><Relationship Type="http://schemas.openxmlformats.org/officeDocument/2006/relationships/notesMaster" Target="/ppt/notesMasters/notesMaster1.xml" Id="Rc2194e6399ec48b8" /></Relationships>
</file>

<file path=ppt/notesSlides/_rels/notesSlide2.xml.rels>&#65279;<?xml version="1.0" encoding="utf-8"?><Relationships xmlns="http://schemas.openxmlformats.org/package/2006/relationships"><Relationship Type="http://schemas.openxmlformats.org/officeDocument/2006/relationships/slide" Target="/ppt/slides/slide2.xml" Id="Rf7057266d6d14cb3" /><Relationship Type="http://schemas.openxmlformats.org/officeDocument/2006/relationships/notesMaster" Target="/ppt/notesMasters/notesMaster1.xml" Id="Rc5885e84787f485b" /></Relationships>
</file>

<file path=ppt/notesSlides/_rels/notesSlide3.xml.rels>&#65279;<?xml version="1.0" encoding="utf-8"?><Relationships xmlns="http://schemas.openxmlformats.org/package/2006/relationships"><Relationship Type="http://schemas.openxmlformats.org/officeDocument/2006/relationships/slide" Target="/ppt/slides/slide3.xml" Id="Rd8ab84d734b842f9" /><Relationship Type="http://schemas.openxmlformats.org/officeDocument/2006/relationships/notesMaster" Target="/ppt/notesMasters/notesMaster1.xml" Id="Rf42ab437d46b4760" /></Relationships>
</file>

<file path=ppt/notesSlides/_rels/notesSlide4.xml.rels>&#65279;<?xml version="1.0" encoding="utf-8"?><Relationships xmlns="http://schemas.openxmlformats.org/package/2006/relationships"><Relationship Type="http://schemas.openxmlformats.org/officeDocument/2006/relationships/slide" Target="/ppt/slides/slide4.xml" Id="Rddd146f942b54f59" /><Relationship Type="http://schemas.openxmlformats.org/officeDocument/2006/relationships/notesMaster" Target="/ppt/notesMasters/notesMaster1.xml" Id="Ra41163b5dd2c4302" /></Relationships>
</file>

<file path=ppt/notesSlides/_rels/notesSlide5.xml.rels>&#65279;<?xml version="1.0" encoding="utf-8"?><Relationships xmlns="http://schemas.openxmlformats.org/package/2006/relationships"><Relationship Type="http://schemas.openxmlformats.org/officeDocument/2006/relationships/slide" Target="/ppt/slides/slide5.xml" Id="R18f06c5fb3694005" /><Relationship Type="http://schemas.openxmlformats.org/officeDocument/2006/relationships/notesMaster" Target="/ppt/notesMasters/notesMaster1.xml" Id="R4076ec6a172843d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1fb5b59088c436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7cab226a3c348bb" /><Relationship Type="http://schemas.openxmlformats.org/officeDocument/2006/relationships/slideLayout" Target="/ppt/slideLayouts/slideLayout1.xml" Id="R1cec092062a8449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cec092062a8449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6b60307478b41ba" /><Relationship Type="http://schemas.openxmlformats.org/officeDocument/2006/relationships/image" Target="/ppt/media/image.png" Id="Rd7ee0a0c962c4369" /><Relationship Type="http://schemas.openxmlformats.org/officeDocument/2006/relationships/notesSlide" Target="/ppt/notesSlides/notesSlide1.xml" Id="Rdff9b17450314ab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881826d9b3246d6" /><Relationship Type="http://schemas.openxmlformats.org/officeDocument/2006/relationships/image" Target="/ppt/media/image2.png" Id="R8f5f1fe51aa14e52" /><Relationship Type="http://schemas.openxmlformats.org/officeDocument/2006/relationships/notesSlide" Target="/ppt/notesSlides/notesSlide2.xml" Id="R778d19f9f714401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28bbda4dfa64510" /><Relationship Type="http://schemas.openxmlformats.org/officeDocument/2006/relationships/image" Target="/ppt/media/image3.png" Id="Ra2b8f63c54744e80" /><Relationship Type="http://schemas.openxmlformats.org/officeDocument/2006/relationships/notesSlide" Target="/ppt/notesSlides/notesSlide3.xml" Id="R7484f52a925c471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40d98c482ec420c" /><Relationship Type="http://schemas.openxmlformats.org/officeDocument/2006/relationships/image" Target="/ppt/media/image4.png" Id="R1932f5b45a114dce" /><Relationship Type="http://schemas.openxmlformats.org/officeDocument/2006/relationships/notesSlide" Target="/ppt/notesSlides/notesSlide4.xml" Id="Rb90a3ceca530405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002800b2c3148a9" /><Relationship Type="http://schemas.openxmlformats.org/officeDocument/2006/relationships/notesSlide" Target="/ppt/notesSlides/notesSlide5.xml" Id="R9e759bfbee494eb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d7ee0a0c962c4369"/>
          <a:stretch xmlns:a="http://schemas.openxmlformats.org/drawingml/2006/main"/>
        </p:blipFill>
        <p:spPr>
          <a:xfrm xmlns:a="http://schemas.openxmlformats.org/drawingml/2006/main">
            <a:off x="6667500" y="1294254"/>
            <a:ext cx="5524500" cy="4269491"/>
          </a:xfrm>
          <a:prstGeom xmlns:a="http://schemas.openxmlformats.org/drawingml/2006/main" prst="rect">
            <a:avLst/>
          </a:prstGeom>
        </p:spPr>
      </p:pic>
      <p:sp>
        <p:nvSpPr>
          <p:cNvPr id="2" name="cover-accent">
            <a:extLst xmlns:a="http://schemas.openxmlformats.org/drawingml/2006/main">
              <a:ext uri="{FF2B5EF4-FFF2-40B4-BE49-F238E27FC236}">
                <a16:creationId xmlns:a16="http://schemas.microsoft.com/office/drawing/2014/main" id="{27E5EF3C-5B94-4920-B33F-2A8DEBBFDB48}"/>
              </a:ext>
            </a:extLst>
          </p:cNvPr>
          <p:cNvSpPr>
            <a:spLocks xmlns:a="http://schemas.openxmlformats.org/drawingml/2006/main" noGrp="1"/>
          </p:cNvSpPr>
          <p:nvPr/>
        </p:nvSpPr>
        <p:spPr>
          <a:xfrm xmlns:a="http://schemas.openxmlformats.org/drawingml/2006/main">
            <a:off x="6286500" y="0"/>
            <a:ext cx="381000" cy="685800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3" name="cover-eyebrow">
            <a:extLst xmlns:a="http://schemas.openxmlformats.org/drawingml/2006/main">
              <a:ext uri="{FF2B5EF4-FFF2-40B4-BE49-F238E27FC236}">
                <a16:creationId xmlns:a16="http://schemas.microsoft.com/office/drawing/2014/main" id="{DD23D312-16BB-4F0B-8864-7B3D0122BF49}"/>
              </a:ext>
            </a:extLst>
          </p:cNvPr>
          <p:cNvSpPr>
            <a:spLocks xmlns:a="http://schemas.openxmlformats.org/drawingml/2006/main" noGrp="1"/>
          </p:cNvSpPr>
          <p:nvPr/>
        </p:nvSpPr>
        <p:spPr>
          <a:xfrm xmlns:a="http://schemas.openxmlformats.org/drawingml/2006/main">
            <a:off x="571500" y="685800"/>
            <a:ext cx="542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350" b="1">
                <a:solidFill>
                  <a:srgbClr val="0B5FAD"/>
                </a:solidFill>
                <a:latin typeface="Arial"/>
                <a:ea typeface="Arial"/>
                <a:cs typeface="Arial"/>
              </a:defRPr>
            </a:pPr>
            <a:r>
              <a:rPr sz="1350" b="1">
                <a:solidFill>
                  <a:srgbClr val="0B5FAD"/>
                </a:solidFill>
                <a:latin typeface="Arial"/>
                <a:ea typeface="Arial"/>
                <a:cs typeface="Arial"/>
              </a:rPr>
              <a:t>MODULE 6 OF 10 · WEEKS 11–12</a:t>
            </a:r>
          </a:p>
        </p:txBody>
      </p:sp>
      <p:sp>
        <p:nvSpPr>
          <p:cNvPr id="4" name="cover-title">
            <a:extLst xmlns:a="http://schemas.openxmlformats.org/drawingml/2006/main">
              <a:ext uri="{FF2B5EF4-FFF2-40B4-BE49-F238E27FC236}">
                <a16:creationId xmlns:a16="http://schemas.microsoft.com/office/drawing/2014/main" id="{5CC6039B-41E4-4056-8C4E-972F493B815D}"/>
              </a:ext>
            </a:extLst>
          </p:cNvPr>
          <p:cNvSpPr>
            <a:spLocks xmlns:a="http://schemas.openxmlformats.org/drawingml/2006/main" noGrp="1"/>
          </p:cNvSpPr>
          <p:nvPr/>
        </p:nvSpPr>
        <p:spPr>
          <a:xfrm xmlns:a="http://schemas.openxmlformats.org/drawingml/2006/main">
            <a:off x="571500" y="1504950"/>
            <a:ext cx="52387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4200" b="1">
                <a:solidFill>
                  <a:srgbClr val="10263D"/>
                </a:solidFill>
                <a:latin typeface="Arial"/>
                <a:ea typeface="Arial"/>
                <a:cs typeface="Arial"/>
              </a:defRPr>
            </a:pPr>
            <a:r>
              <a:rPr sz="4200" b="1">
                <a:solidFill>
                  <a:srgbClr val="10263D"/>
                </a:solidFill>
                <a:latin typeface="Arial"/>
                <a:ea typeface="Arial"/>
                <a:cs typeface="Arial"/>
              </a:rPr>
              <a:t>Timber stability, material choice and surface preparation</a:t>
            </a:r>
          </a:p>
        </p:txBody>
      </p:sp>
      <p:sp>
        <p:nvSpPr>
          <p:cNvPr id="5" name="cover-subtitle">
            <a:extLst xmlns:a="http://schemas.openxmlformats.org/drawingml/2006/main">
              <a:ext uri="{FF2B5EF4-FFF2-40B4-BE49-F238E27FC236}">
                <a16:creationId xmlns:a16="http://schemas.microsoft.com/office/drawing/2014/main" id="{2B70EA7B-B63C-4323-823B-7B85E2F0A979}"/>
              </a:ext>
            </a:extLst>
          </p:cNvPr>
          <p:cNvSpPr>
            <a:spLocks xmlns:a="http://schemas.openxmlformats.org/drawingml/2006/main" noGrp="1"/>
          </p:cNvSpPr>
          <p:nvPr/>
        </p:nvSpPr>
        <p:spPr>
          <a:xfrm xmlns:a="http://schemas.openxmlformats.org/drawingml/2006/main">
            <a:off x="571500" y="4095750"/>
            <a:ext cx="5143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800">
                <a:solidFill>
                  <a:srgbClr val="526579"/>
                </a:solidFill>
                <a:latin typeface="Arial"/>
                <a:ea typeface="Arial"/>
                <a:cs typeface="Arial"/>
              </a:defRPr>
            </a:pPr>
            <a:r>
              <a:rPr sz="1800">
                <a:solidFill>
                  <a:srgbClr val="526579"/>
                </a:solidFill>
                <a:latin typeface="Arial"/>
                <a:ea typeface="Arial"/>
                <a:cs typeface="Arial"/>
              </a:rPr>
              <a:t>Use the Clock drawing, the three theory sections and the module evidence in sequence.</a:t>
            </a:r>
          </a:p>
        </p:txBody>
      </p:sp>
      <p:sp>
        <p:nvSpPr>
          <p:cNvPr id="6" name="cover-footer">
            <a:extLst xmlns:a="http://schemas.openxmlformats.org/drawingml/2006/main">
              <a:ext uri="{FF2B5EF4-FFF2-40B4-BE49-F238E27FC236}">
                <a16:creationId xmlns:a16="http://schemas.microsoft.com/office/drawing/2014/main" id="{3694452F-F380-40E6-B0C5-89835BF1CB0F}"/>
              </a:ext>
            </a:extLst>
          </p:cNvPr>
          <p:cNvSpPr>
            <a:spLocks xmlns:a="http://schemas.openxmlformats.org/drawingml/2006/main" noGrp="1"/>
          </p:cNvSpPr>
          <p:nvPr/>
        </p:nvSpPr>
        <p:spPr>
          <a:xfrm xmlns:a="http://schemas.openxmlformats.org/drawingml/2006/main">
            <a:off x="571500" y="615315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526579"/>
                </a:solidFill>
                <a:latin typeface="Arial"/>
                <a:ea typeface="Arial"/>
                <a:cs typeface="Arial"/>
              </a:defRPr>
            </a:pPr>
            <a:r>
              <a:rPr sz="1200" b="1">
                <a:solidFill>
                  <a:srgbClr val="526579"/>
                </a:solidFill>
                <a:latin typeface="Arial"/>
                <a:ea typeface="Arial"/>
                <a:cs typeface="Arial"/>
              </a:rPr>
              <a:t>Clock Guided Course</a:t>
            </a:r>
          </a:p>
        </p:txBody>
      </p:sp>
    </p:spTree>
    <p:extLst>
      <p:ext uri="{BB962C8B-B14F-4D97-AF65-F5344CB8AC3E}">
        <p14:creationId xmlns:p14="http://schemas.microsoft.com/office/powerpoint/2010/main" val="81405780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label-2">
            <a:extLst xmlns:a="http://schemas.openxmlformats.org/drawingml/2006/main">
              <a:ext uri="{FF2B5EF4-FFF2-40B4-BE49-F238E27FC236}">
                <a16:creationId xmlns:a16="http://schemas.microsoft.com/office/drawing/2014/main" id="{366F7CF7-4505-4EDE-993C-5F9635D6EDC7}"/>
              </a:ext>
            </a:extLst>
          </p:cNvPr>
          <p:cNvSpPr>
            <a:spLocks xmlns:a="http://schemas.openxmlformats.org/drawingml/2006/main" noGrp="1"/>
          </p:cNvSpPr>
          <p:nvPr/>
        </p:nvSpPr>
        <p:spPr>
          <a:xfrm xmlns:a="http://schemas.openxmlformats.org/drawingml/2006/main">
            <a:off x="552450" y="323850"/>
            <a:ext cx="809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0B5FAD"/>
                </a:solidFill>
                <a:latin typeface="Arial"/>
                <a:ea typeface="Arial"/>
                <a:cs typeface="Arial"/>
              </a:defRPr>
            </a:pPr>
            <a:r>
              <a:rPr sz="1200" b="1">
                <a:solidFill>
                  <a:srgbClr val="0B5FAD"/>
                </a:solidFill>
                <a:latin typeface="Arial"/>
                <a:ea typeface="Arial"/>
                <a:cs typeface="Arial"/>
              </a:rPr>
              <a:t>MODULE 6 OF 10 · WEEKS 11–12</a:t>
            </a:r>
          </a:p>
        </p:txBody>
      </p:sp>
      <p:sp>
        <p:nvSpPr>
          <p:cNvPr id="2" name="page-2">
            <a:extLst xmlns:a="http://schemas.openxmlformats.org/drawingml/2006/main">
              <a:ext uri="{FF2B5EF4-FFF2-40B4-BE49-F238E27FC236}">
                <a16:creationId xmlns:a16="http://schemas.microsoft.com/office/drawing/2014/main" id="{BF72AF7E-6831-46BB-BB64-384B04F682AD}"/>
              </a:ext>
            </a:extLst>
          </p:cNvPr>
          <p:cNvSpPr>
            <a:spLocks xmlns:a="http://schemas.openxmlformats.org/drawingml/2006/main" noGrp="1"/>
          </p:cNvSpPr>
          <p:nvPr/>
        </p:nvSpPr>
        <p:spPr>
          <a:xfrm xmlns:a="http://schemas.openxmlformats.org/drawingml/2006/main">
            <a:off x="11287125" y="63246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a:solidFill>
                  <a:srgbClr val="526579"/>
                </a:solidFill>
                <a:latin typeface="Arial"/>
                <a:ea typeface="Arial"/>
                <a:cs typeface="Arial"/>
              </a:defRPr>
            </a:pPr>
            <a:r>
              <a:rPr sz="1050">
                <a:solidFill>
                  <a:srgbClr val="526579"/>
                </a:solidFill>
                <a:latin typeface="Arial"/>
                <a:ea typeface="Arial"/>
                <a:cs typeface="Arial"/>
              </a:rPr>
              <a:t>2</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8f5f1fe51aa14e52"/>
          <a:stretch xmlns:a="http://schemas.openxmlformats.org/drawingml/2006/main"/>
        </p:blipFill>
        <p:spPr>
          <a:xfrm xmlns:a="http://schemas.openxmlformats.org/drawingml/2006/main">
            <a:off x="7667625" y="857250"/>
            <a:ext cx="3429000" cy="5143500"/>
          </a:xfrm>
          <a:prstGeom xmlns:a="http://schemas.openxmlformats.org/drawingml/2006/main" prst="rect">
            <a:avLst/>
          </a:prstGeom>
        </p:spPr>
      </p:pic>
      <p:sp>
        <p:nvSpPr>
          <p:cNvPr id="4" name="topic-title-0">
            <a:extLst xmlns:a="http://schemas.openxmlformats.org/drawingml/2006/main">
              <a:ext uri="{FF2B5EF4-FFF2-40B4-BE49-F238E27FC236}">
                <a16:creationId xmlns:a16="http://schemas.microsoft.com/office/drawing/2014/main" id="{B57683F3-B076-495A-9213-9877D1899199}"/>
              </a:ext>
            </a:extLst>
          </p:cNvPr>
          <p:cNvSpPr>
            <a:spLocks xmlns:a="http://schemas.openxmlformats.org/drawingml/2006/main" noGrp="1"/>
          </p:cNvSpPr>
          <p:nvPr/>
        </p:nvSpPr>
        <p:spPr>
          <a:xfrm xmlns:a="http://schemas.openxmlformats.org/drawingml/2006/main">
            <a:off x="590550" y="1104900"/>
            <a:ext cx="4953000" cy="1571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925" b="1">
                <a:solidFill>
                  <a:srgbClr val="10263D"/>
                </a:solidFill>
                <a:latin typeface="Arial"/>
                <a:ea typeface="Arial"/>
                <a:cs typeface="Arial"/>
              </a:defRPr>
            </a:pPr>
            <a:r>
              <a:rPr sz="2925" b="1">
                <a:solidFill>
                  <a:srgbClr val="10263D"/>
                </a:solidFill>
                <a:latin typeface="Arial"/>
                <a:ea typeface="Arial"/>
                <a:cs typeface="Arial"/>
              </a:rPr>
              <a:t>Timber moisture, seasoning and dimensional stability</a:t>
            </a:r>
          </a:p>
        </p:txBody>
      </p:sp>
      <p:sp>
        <p:nvSpPr>
          <p:cNvPr id="5" name="topic-body-0">
            <a:extLst xmlns:a="http://schemas.openxmlformats.org/drawingml/2006/main">
              <a:ext uri="{FF2B5EF4-FFF2-40B4-BE49-F238E27FC236}">
                <a16:creationId xmlns:a16="http://schemas.microsoft.com/office/drawing/2014/main" id="{8B8A3724-8DD0-476A-90AD-0EDEC6BAEE34}"/>
              </a:ext>
            </a:extLst>
          </p:cNvPr>
          <p:cNvSpPr>
            <a:spLocks xmlns:a="http://schemas.openxmlformats.org/drawingml/2006/main" noGrp="1"/>
          </p:cNvSpPr>
          <p:nvPr/>
        </p:nvSpPr>
        <p:spPr>
          <a:xfrm xmlns:a="http://schemas.openxmlformats.org/drawingml/2006/main">
            <a:off x="590550" y="2838450"/>
            <a:ext cx="48577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526579"/>
                </a:solidFill>
                <a:latin typeface="Arial"/>
                <a:ea typeface="Arial"/>
                <a:cs typeface="Arial"/>
              </a:defRPr>
            </a:pPr>
            <a:r>
              <a:rPr sz="1575">
                <a:solidFill>
                  <a:srgbClr val="526579"/>
                </a:solidFill>
                <a:latin typeface="Arial"/>
                <a:ea typeface="Arial"/>
                <a:cs typeface="Arial"/>
              </a:rPr>
              <a:t>Timber contains moisture because a tree naturally carries water through its structure while growing. After timber is cut, it continues to exchange moisture with the surrounding air. In damp conditions, timber may absorb moisture and expand.</a:t>
            </a:r>
          </a:p>
        </p:txBody>
      </p:sp>
      <p:sp>
        <p:nvSpPr>
          <p:cNvPr id="6" name="check-rule-0">
            <a:extLst xmlns:a="http://schemas.openxmlformats.org/drawingml/2006/main">
              <a:ext uri="{FF2B5EF4-FFF2-40B4-BE49-F238E27FC236}">
                <a16:creationId xmlns:a16="http://schemas.microsoft.com/office/drawing/2014/main" id="{2CA70DC1-2E39-4BB4-8233-3C8FCF7A9356}"/>
              </a:ext>
            </a:extLst>
          </p:cNvPr>
          <p:cNvSpPr>
            <a:spLocks xmlns:a="http://schemas.openxmlformats.org/drawingml/2006/main" noGrp="1"/>
          </p:cNvSpPr>
          <p:nvPr/>
        </p:nvSpPr>
        <p:spPr>
          <a:xfrm xmlns:a="http://schemas.openxmlformats.org/drawingml/2006/main">
            <a:off x="590550" y="4762500"/>
            <a:ext cx="781050" cy="5715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7" name="topic-check-0">
            <a:extLst xmlns:a="http://schemas.openxmlformats.org/drawingml/2006/main">
              <a:ext uri="{FF2B5EF4-FFF2-40B4-BE49-F238E27FC236}">
                <a16:creationId xmlns:a16="http://schemas.microsoft.com/office/drawing/2014/main" id="{45DBEA36-59BF-4E2B-95C5-790A87EBF8E9}"/>
              </a:ext>
            </a:extLst>
          </p:cNvPr>
          <p:cNvSpPr>
            <a:spLocks xmlns:a="http://schemas.openxmlformats.org/drawingml/2006/main" noGrp="1"/>
          </p:cNvSpPr>
          <p:nvPr/>
        </p:nvSpPr>
        <p:spPr>
          <a:xfrm xmlns:a="http://schemas.openxmlformats.org/drawingml/2006/main">
            <a:off x="590550" y="5029200"/>
            <a:ext cx="48577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10263D"/>
                </a:solidFill>
                <a:latin typeface="Arial"/>
                <a:ea typeface="Arial"/>
                <a:cs typeface="Arial"/>
              </a:defRPr>
            </a:pPr>
            <a:r>
              <a:rPr sz="1575" b="1">
                <a:solidFill>
                  <a:srgbClr val="10263D"/>
                </a:solidFill>
                <a:latin typeface="Arial"/>
                <a:ea typeface="Arial"/>
                <a:cs typeface="Arial"/>
              </a:rPr>
              <a:t>Timber continues to respond to moisture after it is cut, so well-seasoned, stable material is essential for accurate Clock joints, reliable drawer movement and a consistent finished surface.</a:t>
            </a:r>
          </a:p>
        </p:txBody>
      </p:sp>
    </p:spTree>
    <p:extLst>
      <p:ext uri="{BB962C8B-B14F-4D97-AF65-F5344CB8AC3E}">
        <p14:creationId xmlns:p14="http://schemas.microsoft.com/office/powerpoint/2010/main" val="169955501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label-3">
            <a:extLst xmlns:a="http://schemas.openxmlformats.org/drawingml/2006/main">
              <a:ext uri="{FF2B5EF4-FFF2-40B4-BE49-F238E27FC236}">
                <a16:creationId xmlns:a16="http://schemas.microsoft.com/office/drawing/2014/main" id="{749AE3D4-4C86-45F0-870C-CE21F5253CAD}"/>
              </a:ext>
            </a:extLst>
          </p:cNvPr>
          <p:cNvSpPr>
            <a:spLocks xmlns:a="http://schemas.openxmlformats.org/drawingml/2006/main" noGrp="1"/>
          </p:cNvSpPr>
          <p:nvPr/>
        </p:nvSpPr>
        <p:spPr>
          <a:xfrm xmlns:a="http://schemas.openxmlformats.org/drawingml/2006/main">
            <a:off x="552450" y="323850"/>
            <a:ext cx="809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0B5FAD"/>
                </a:solidFill>
                <a:latin typeface="Arial"/>
                <a:ea typeface="Arial"/>
                <a:cs typeface="Arial"/>
              </a:defRPr>
            </a:pPr>
            <a:r>
              <a:rPr sz="1200" b="1">
                <a:solidFill>
                  <a:srgbClr val="0B5FAD"/>
                </a:solidFill>
                <a:latin typeface="Arial"/>
                <a:ea typeface="Arial"/>
                <a:cs typeface="Arial"/>
              </a:rPr>
              <a:t>MODULE 6 OF 10 · WEEKS 11–12</a:t>
            </a:r>
          </a:p>
        </p:txBody>
      </p:sp>
      <p:sp>
        <p:nvSpPr>
          <p:cNvPr id="2" name="page-3">
            <a:extLst xmlns:a="http://schemas.openxmlformats.org/drawingml/2006/main">
              <a:ext uri="{FF2B5EF4-FFF2-40B4-BE49-F238E27FC236}">
                <a16:creationId xmlns:a16="http://schemas.microsoft.com/office/drawing/2014/main" id="{C4DFE533-2883-44F6-9080-EC972EBC5D8D}"/>
              </a:ext>
            </a:extLst>
          </p:cNvPr>
          <p:cNvSpPr>
            <a:spLocks xmlns:a="http://schemas.openxmlformats.org/drawingml/2006/main" noGrp="1"/>
          </p:cNvSpPr>
          <p:nvPr/>
        </p:nvSpPr>
        <p:spPr>
          <a:xfrm xmlns:a="http://schemas.openxmlformats.org/drawingml/2006/main">
            <a:off x="11287125" y="63246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a:solidFill>
                  <a:srgbClr val="526579"/>
                </a:solidFill>
                <a:latin typeface="Arial"/>
                <a:ea typeface="Arial"/>
                <a:cs typeface="Arial"/>
              </a:defRPr>
            </a:pPr>
            <a:r>
              <a:rPr sz="1050">
                <a:solidFill>
                  <a:srgbClr val="526579"/>
                </a:solidFill>
                <a:latin typeface="Arial"/>
                <a:ea typeface="Arial"/>
                <a:cs typeface="Arial"/>
              </a:rPr>
              <a:t>3</a:t>
            </a:r>
          </a:p>
        </p:txBody>
      </p:sp>
      <p:sp>
        <p:nvSpPr>
          <p:cNvPr id="3" name="accent-1">
            <a:extLst xmlns:a="http://schemas.openxmlformats.org/drawingml/2006/main">
              <a:ext uri="{FF2B5EF4-FFF2-40B4-BE49-F238E27FC236}">
                <a16:creationId xmlns:a16="http://schemas.microsoft.com/office/drawing/2014/main" id="{07FC5F25-8B65-45CF-A9CE-D1059E9CEC64}"/>
              </a:ext>
            </a:extLst>
          </p:cNvPr>
          <p:cNvSpPr>
            <a:spLocks xmlns:a="http://schemas.openxmlformats.org/drawingml/2006/main" noGrp="1"/>
          </p:cNvSpPr>
          <p:nvPr/>
        </p:nvSpPr>
        <p:spPr>
          <a:xfrm xmlns:a="http://schemas.openxmlformats.org/drawingml/2006/main">
            <a:off x="5905500" y="0"/>
            <a:ext cx="266700" cy="685800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a2b8f63c54744e80"/>
          <a:stretch xmlns:a="http://schemas.openxmlformats.org/drawingml/2006/main"/>
        </p:blipFill>
        <p:spPr>
          <a:xfrm xmlns:a="http://schemas.openxmlformats.org/drawingml/2006/main">
            <a:off x="0" y="1847605"/>
            <a:ext cx="5619750" cy="3162790"/>
          </a:xfrm>
          <a:prstGeom xmlns:a="http://schemas.openxmlformats.org/drawingml/2006/main" prst="rect">
            <a:avLst/>
          </a:prstGeom>
        </p:spPr>
      </p:pic>
      <p:sp>
        <p:nvSpPr>
          <p:cNvPr id="5" name="topic-title-1">
            <a:extLst xmlns:a="http://schemas.openxmlformats.org/drawingml/2006/main">
              <a:ext uri="{FF2B5EF4-FFF2-40B4-BE49-F238E27FC236}">
                <a16:creationId xmlns:a16="http://schemas.microsoft.com/office/drawing/2014/main" id="{27C78EC3-9079-41B0-82C2-11CFCE562C8C}"/>
              </a:ext>
            </a:extLst>
          </p:cNvPr>
          <p:cNvSpPr>
            <a:spLocks xmlns:a="http://schemas.openxmlformats.org/drawingml/2006/main" noGrp="1"/>
          </p:cNvSpPr>
          <p:nvPr/>
        </p:nvSpPr>
        <p:spPr>
          <a:xfrm xmlns:a="http://schemas.openxmlformats.org/drawingml/2006/main">
            <a:off x="6572250" y="1104900"/>
            <a:ext cx="4953000" cy="1571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925" b="1">
                <a:solidFill>
                  <a:srgbClr val="10263D"/>
                </a:solidFill>
                <a:latin typeface="Arial"/>
                <a:ea typeface="Arial"/>
                <a:cs typeface="Arial"/>
              </a:defRPr>
            </a:pPr>
            <a:r>
              <a:rPr sz="2925" b="1">
                <a:solidFill>
                  <a:srgbClr val="10263D"/>
                </a:solidFill>
                <a:latin typeface="Arial"/>
                <a:ea typeface="Arial"/>
                <a:cs typeface="Arial"/>
              </a:rPr>
              <a:t>Selecting timber for function, appearance and responsible use</a:t>
            </a:r>
          </a:p>
        </p:txBody>
      </p:sp>
      <p:sp>
        <p:nvSpPr>
          <p:cNvPr id="6" name="topic-body-1">
            <a:extLst xmlns:a="http://schemas.openxmlformats.org/drawingml/2006/main">
              <a:ext uri="{FF2B5EF4-FFF2-40B4-BE49-F238E27FC236}">
                <a16:creationId xmlns:a16="http://schemas.microsoft.com/office/drawing/2014/main" id="{8CD91E51-F620-4453-940E-768A96C4D866}"/>
              </a:ext>
            </a:extLst>
          </p:cNvPr>
          <p:cNvSpPr>
            <a:spLocks xmlns:a="http://schemas.openxmlformats.org/drawingml/2006/main" noGrp="1"/>
          </p:cNvSpPr>
          <p:nvPr/>
        </p:nvSpPr>
        <p:spPr>
          <a:xfrm xmlns:a="http://schemas.openxmlformats.org/drawingml/2006/main">
            <a:off x="6572250" y="2838450"/>
            <a:ext cx="48577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526579"/>
                </a:solidFill>
                <a:latin typeface="Arial"/>
                <a:ea typeface="Arial"/>
                <a:cs typeface="Arial"/>
              </a:defRPr>
            </a:pPr>
            <a:r>
              <a:rPr sz="1575">
                <a:solidFill>
                  <a:srgbClr val="526579"/>
                </a:solidFill>
                <a:latin typeface="Arial"/>
                <a:ea typeface="Arial"/>
                <a:cs typeface="Arial"/>
              </a:rPr>
              <a:t>Selecting timber is more than choosing the best-looking piece. Each Clock component has a particular job, so the timber assigned to it must be suitable for its function, appearance and position in the finished project.</a:t>
            </a:r>
          </a:p>
        </p:txBody>
      </p:sp>
      <p:sp>
        <p:nvSpPr>
          <p:cNvPr id="7" name="check-rule-1">
            <a:extLst xmlns:a="http://schemas.openxmlformats.org/drawingml/2006/main">
              <a:ext uri="{FF2B5EF4-FFF2-40B4-BE49-F238E27FC236}">
                <a16:creationId xmlns:a16="http://schemas.microsoft.com/office/drawing/2014/main" id="{16D07111-2674-4882-84FA-2E31D1058A3C}"/>
              </a:ext>
            </a:extLst>
          </p:cNvPr>
          <p:cNvSpPr>
            <a:spLocks xmlns:a="http://schemas.openxmlformats.org/drawingml/2006/main" noGrp="1"/>
          </p:cNvSpPr>
          <p:nvPr/>
        </p:nvSpPr>
        <p:spPr>
          <a:xfrm xmlns:a="http://schemas.openxmlformats.org/drawingml/2006/main">
            <a:off x="6572250" y="4762500"/>
            <a:ext cx="781050" cy="5715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8" name="topic-check-1">
            <a:extLst xmlns:a="http://schemas.openxmlformats.org/drawingml/2006/main">
              <a:ext uri="{FF2B5EF4-FFF2-40B4-BE49-F238E27FC236}">
                <a16:creationId xmlns:a16="http://schemas.microsoft.com/office/drawing/2014/main" id="{5E708A54-DF24-485D-80C3-C9572E02F98A}"/>
              </a:ext>
            </a:extLst>
          </p:cNvPr>
          <p:cNvSpPr>
            <a:spLocks xmlns:a="http://schemas.openxmlformats.org/drawingml/2006/main" noGrp="1"/>
          </p:cNvSpPr>
          <p:nvPr/>
        </p:nvSpPr>
        <p:spPr>
          <a:xfrm xmlns:a="http://schemas.openxmlformats.org/drawingml/2006/main">
            <a:off x="6572250" y="5029200"/>
            <a:ext cx="48577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10263D"/>
                </a:solidFill>
                <a:latin typeface="Arial"/>
                <a:ea typeface="Arial"/>
                <a:cs typeface="Arial"/>
              </a:defRPr>
            </a:pPr>
            <a:r>
              <a:rPr sz="1575" b="1">
                <a:solidFill>
                  <a:srgbClr val="10263D"/>
                </a:solidFill>
                <a:latin typeface="Arial"/>
                <a:ea typeface="Arial"/>
                <a:cs typeface="Arial"/>
              </a:rPr>
              <a:t>Select timber by matching its actual qualities to the component’s function, appearance and accuracy needs, while using approved material efficiently and recording the reasons for your…</a:t>
            </a:r>
          </a:p>
        </p:txBody>
      </p:sp>
    </p:spTree>
    <p:extLst>
      <p:ext uri="{BB962C8B-B14F-4D97-AF65-F5344CB8AC3E}">
        <p14:creationId xmlns:p14="http://schemas.microsoft.com/office/powerpoint/2010/main" val="2642781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label-4">
            <a:extLst xmlns:a="http://schemas.openxmlformats.org/drawingml/2006/main">
              <a:ext uri="{FF2B5EF4-FFF2-40B4-BE49-F238E27FC236}">
                <a16:creationId xmlns:a16="http://schemas.microsoft.com/office/drawing/2014/main" id="{371A54B9-CACE-4657-BC75-85C6FB677048}"/>
              </a:ext>
            </a:extLst>
          </p:cNvPr>
          <p:cNvSpPr>
            <a:spLocks xmlns:a="http://schemas.openxmlformats.org/drawingml/2006/main" noGrp="1"/>
          </p:cNvSpPr>
          <p:nvPr/>
        </p:nvSpPr>
        <p:spPr>
          <a:xfrm xmlns:a="http://schemas.openxmlformats.org/drawingml/2006/main">
            <a:off x="552450" y="323850"/>
            <a:ext cx="809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0B5FAD"/>
                </a:solidFill>
                <a:latin typeface="Arial"/>
                <a:ea typeface="Arial"/>
                <a:cs typeface="Arial"/>
              </a:defRPr>
            </a:pPr>
            <a:r>
              <a:rPr sz="1200" b="1">
                <a:solidFill>
                  <a:srgbClr val="0B5FAD"/>
                </a:solidFill>
                <a:latin typeface="Arial"/>
                <a:ea typeface="Arial"/>
                <a:cs typeface="Arial"/>
              </a:rPr>
              <a:t>MODULE 6 OF 10 · WEEKS 11–12</a:t>
            </a:r>
          </a:p>
        </p:txBody>
      </p:sp>
      <p:sp>
        <p:nvSpPr>
          <p:cNvPr id="2" name="page-4">
            <a:extLst xmlns:a="http://schemas.openxmlformats.org/drawingml/2006/main">
              <a:ext uri="{FF2B5EF4-FFF2-40B4-BE49-F238E27FC236}">
                <a16:creationId xmlns:a16="http://schemas.microsoft.com/office/drawing/2014/main" id="{6BF2B8A1-5D72-4713-A186-7F967FEC88FD}"/>
              </a:ext>
            </a:extLst>
          </p:cNvPr>
          <p:cNvSpPr>
            <a:spLocks xmlns:a="http://schemas.openxmlformats.org/drawingml/2006/main" noGrp="1"/>
          </p:cNvSpPr>
          <p:nvPr/>
        </p:nvSpPr>
        <p:spPr>
          <a:xfrm xmlns:a="http://schemas.openxmlformats.org/drawingml/2006/main">
            <a:off x="11287125" y="63246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a:solidFill>
                  <a:srgbClr val="526579"/>
                </a:solidFill>
                <a:latin typeface="Arial"/>
                <a:ea typeface="Arial"/>
                <a:cs typeface="Arial"/>
              </a:defRPr>
            </a:pPr>
            <a:r>
              <a:rPr sz="1050">
                <a:solidFill>
                  <a:srgbClr val="526579"/>
                </a:solidFill>
                <a:latin typeface="Arial"/>
                <a:ea typeface="Arial"/>
                <a:cs typeface="Arial"/>
              </a:rPr>
              <a:t>4</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1932f5b45a114dce"/>
          <a:stretch xmlns:a="http://schemas.openxmlformats.org/drawingml/2006/main"/>
        </p:blipFill>
        <p:spPr>
          <a:xfrm xmlns:a="http://schemas.openxmlformats.org/drawingml/2006/main">
            <a:off x="6572250" y="1847605"/>
            <a:ext cx="5619750" cy="3162790"/>
          </a:xfrm>
          <a:prstGeom xmlns:a="http://schemas.openxmlformats.org/drawingml/2006/main" prst="rect">
            <a:avLst/>
          </a:prstGeom>
        </p:spPr>
      </p:pic>
      <p:sp>
        <p:nvSpPr>
          <p:cNvPr id="4" name="topic-title-2">
            <a:extLst xmlns:a="http://schemas.openxmlformats.org/drawingml/2006/main">
              <a:ext uri="{FF2B5EF4-FFF2-40B4-BE49-F238E27FC236}">
                <a16:creationId xmlns:a16="http://schemas.microsoft.com/office/drawing/2014/main" id="{B7D2476C-C0E7-4799-8445-CFEF01F61882}"/>
              </a:ext>
            </a:extLst>
          </p:cNvPr>
          <p:cNvSpPr>
            <a:spLocks xmlns:a="http://schemas.openxmlformats.org/drawingml/2006/main" noGrp="1"/>
          </p:cNvSpPr>
          <p:nvPr/>
        </p:nvSpPr>
        <p:spPr>
          <a:xfrm xmlns:a="http://schemas.openxmlformats.org/drawingml/2006/main">
            <a:off x="590550" y="1104900"/>
            <a:ext cx="4953000" cy="1571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925" b="1">
                <a:solidFill>
                  <a:srgbClr val="10263D"/>
                </a:solidFill>
                <a:latin typeface="Arial"/>
                <a:ea typeface="Arial"/>
                <a:cs typeface="Arial"/>
              </a:defRPr>
            </a:pPr>
            <a:r>
              <a:rPr sz="2925" b="1">
                <a:solidFill>
                  <a:srgbClr val="10263D"/>
                </a:solidFill>
                <a:latin typeface="Arial"/>
                <a:ea typeface="Arial"/>
                <a:cs typeface="Arial"/>
              </a:rPr>
              <a:t>Sanding for a consistent oil-ready surface</a:t>
            </a:r>
          </a:p>
        </p:txBody>
      </p:sp>
      <p:sp>
        <p:nvSpPr>
          <p:cNvPr id="5" name="topic-body-2">
            <a:extLst xmlns:a="http://schemas.openxmlformats.org/drawingml/2006/main">
              <a:ext uri="{FF2B5EF4-FFF2-40B4-BE49-F238E27FC236}">
                <a16:creationId xmlns:a16="http://schemas.microsoft.com/office/drawing/2014/main" id="{A6199917-9AE4-4F93-8F6C-9E0A09165526}"/>
              </a:ext>
            </a:extLst>
          </p:cNvPr>
          <p:cNvSpPr>
            <a:spLocks xmlns:a="http://schemas.openxmlformats.org/drawingml/2006/main" noGrp="1"/>
          </p:cNvSpPr>
          <p:nvPr/>
        </p:nvSpPr>
        <p:spPr>
          <a:xfrm xmlns:a="http://schemas.openxmlformats.org/drawingml/2006/main">
            <a:off x="590550" y="2838450"/>
            <a:ext cx="48577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a:solidFill>
                  <a:srgbClr val="526579"/>
                </a:solidFill>
                <a:latin typeface="Arial"/>
                <a:ea typeface="Arial"/>
                <a:cs typeface="Arial"/>
              </a:defRPr>
            </a:pPr>
            <a:r>
              <a:rPr sz="1575">
                <a:solidFill>
                  <a:srgbClr val="526579"/>
                </a:solidFill>
                <a:latin typeface="Arial"/>
                <a:ea typeface="Arial"/>
                <a:cs typeface="Arial"/>
              </a:rPr>
              <a:t>Sanding prepares the Clock surfaces for the approved three-coat oil finish. Its purpose is not simply to make the timber feel smooth. Careful sanding removes machining marks, small scratches and minor surface irregularities while keeping the Clock’s edges, faces and…</a:t>
            </a:r>
          </a:p>
        </p:txBody>
      </p:sp>
      <p:sp>
        <p:nvSpPr>
          <p:cNvPr id="6" name="check-rule-2">
            <a:extLst xmlns:a="http://schemas.openxmlformats.org/drawingml/2006/main">
              <a:ext uri="{FF2B5EF4-FFF2-40B4-BE49-F238E27FC236}">
                <a16:creationId xmlns:a16="http://schemas.microsoft.com/office/drawing/2014/main" id="{64AEBFF6-9675-47EF-949D-70D284CE6C36}"/>
              </a:ext>
            </a:extLst>
          </p:cNvPr>
          <p:cNvSpPr>
            <a:spLocks xmlns:a="http://schemas.openxmlformats.org/drawingml/2006/main" noGrp="1"/>
          </p:cNvSpPr>
          <p:nvPr/>
        </p:nvSpPr>
        <p:spPr>
          <a:xfrm xmlns:a="http://schemas.openxmlformats.org/drawingml/2006/main">
            <a:off x="590550" y="4762500"/>
            <a:ext cx="781050" cy="5715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7" name="topic-check-2">
            <a:extLst xmlns:a="http://schemas.openxmlformats.org/drawingml/2006/main">
              <a:ext uri="{FF2B5EF4-FFF2-40B4-BE49-F238E27FC236}">
                <a16:creationId xmlns:a16="http://schemas.microsoft.com/office/drawing/2014/main" id="{18CA729E-4105-475D-8D3F-BB604EDC9B66}"/>
              </a:ext>
            </a:extLst>
          </p:cNvPr>
          <p:cNvSpPr>
            <a:spLocks xmlns:a="http://schemas.openxmlformats.org/drawingml/2006/main" noGrp="1"/>
          </p:cNvSpPr>
          <p:nvPr/>
        </p:nvSpPr>
        <p:spPr>
          <a:xfrm xmlns:a="http://schemas.openxmlformats.org/drawingml/2006/main">
            <a:off x="590550" y="5029200"/>
            <a:ext cx="48577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75" b="1">
                <a:solidFill>
                  <a:srgbClr val="10263D"/>
                </a:solidFill>
                <a:latin typeface="Arial"/>
                <a:ea typeface="Arial"/>
                <a:cs typeface="Arial"/>
              </a:defRPr>
            </a:pPr>
            <a:r>
              <a:rPr sz="1575" b="1">
                <a:solidFill>
                  <a:srgbClr val="10263D"/>
                </a:solidFill>
                <a:latin typeface="Arial"/>
                <a:ea typeface="Arial"/>
                <a:cs typeface="Arial"/>
              </a:rPr>
              <a:t>Sand progressively, follow the grain, protect accurate edges and inspect carefully before oiling. A finish cannot hide poor preparation; it usually makes the faults easier to see.</a:t>
            </a:r>
          </a:p>
        </p:txBody>
      </p:sp>
    </p:spTree>
    <p:extLst>
      <p:ext uri="{BB962C8B-B14F-4D97-AF65-F5344CB8AC3E}">
        <p14:creationId xmlns:p14="http://schemas.microsoft.com/office/powerpoint/2010/main" val="63940877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label-5">
            <a:extLst xmlns:a="http://schemas.openxmlformats.org/drawingml/2006/main">
              <a:ext uri="{FF2B5EF4-FFF2-40B4-BE49-F238E27FC236}">
                <a16:creationId xmlns:a16="http://schemas.microsoft.com/office/drawing/2014/main" id="{9EF7086C-4005-4395-B7DF-0E0AC08FB6BF}"/>
              </a:ext>
            </a:extLst>
          </p:cNvPr>
          <p:cNvSpPr>
            <a:spLocks xmlns:a="http://schemas.openxmlformats.org/drawingml/2006/main" noGrp="1"/>
          </p:cNvSpPr>
          <p:nvPr/>
        </p:nvSpPr>
        <p:spPr>
          <a:xfrm xmlns:a="http://schemas.openxmlformats.org/drawingml/2006/main">
            <a:off x="552450" y="323850"/>
            <a:ext cx="809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00" b="1">
                <a:solidFill>
                  <a:srgbClr val="0B5FAD"/>
                </a:solidFill>
                <a:latin typeface="Arial"/>
                <a:ea typeface="Arial"/>
                <a:cs typeface="Arial"/>
              </a:defRPr>
            </a:pPr>
            <a:r>
              <a:rPr sz="1200" b="1">
                <a:solidFill>
                  <a:srgbClr val="0B5FAD"/>
                </a:solidFill>
                <a:latin typeface="Arial"/>
                <a:ea typeface="Arial"/>
                <a:cs typeface="Arial"/>
              </a:rPr>
              <a:t>BEFORE YOU MOVE ON</a:t>
            </a:r>
          </a:p>
        </p:txBody>
      </p:sp>
      <p:sp>
        <p:nvSpPr>
          <p:cNvPr id="2" name="page-5">
            <a:extLst xmlns:a="http://schemas.openxmlformats.org/drawingml/2006/main">
              <a:ext uri="{FF2B5EF4-FFF2-40B4-BE49-F238E27FC236}">
                <a16:creationId xmlns:a16="http://schemas.microsoft.com/office/drawing/2014/main" id="{6592E868-99B6-497A-BF19-E6E4CEC81725}"/>
              </a:ext>
            </a:extLst>
          </p:cNvPr>
          <p:cNvSpPr>
            <a:spLocks xmlns:a="http://schemas.openxmlformats.org/drawingml/2006/main" noGrp="1"/>
          </p:cNvSpPr>
          <p:nvPr/>
        </p:nvSpPr>
        <p:spPr>
          <a:xfrm xmlns:a="http://schemas.openxmlformats.org/drawingml/2006/main">
            <a:off x="11287125" y="632460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a:solidFill>
                  <a:srgbClr val="526579"/>
                </a:solidFill>
                <a:latin typeface="Arial"/>
                <a:ea typeface="Arial"/>
                <a:cs typeface="Arial"/>
              </a:defRPr>
            </a:pPr>
            <a:r>
              <a:rPr sz="1050">
                <a:solidFill>
                  <a:srgbClr val="526579"/>
                </a:solidFill>
                <a:latin typeface="Arial"/>
                <a:ea typeface="Arial"/>
                <a:cs typeface="Arial"/>
              </a:rPr>
              <a:t>5</a:t>
            </a:r>
          </a:p>
        </p:txBody>
      </p:sp>
      <p:sp>
        <p:nvSpPr>
          <p:cNvPr id="3" name="close-panel">
            <a:extLst xmlns:a="http://schemas.openxmlformats.org/drawingml/2006/main">
              <a:ext uri="{FF2B5EF4-FFF2-40B4-BE49-F238E27FC236}">
                <a16:creationId xmlns:a16="http://schemas.microsoft.com/office/drawing/2014/main" id="{54464A4A-E64F-471B-BDA5-2A6627EAE749}"/>
              </a:ext>
            </a:extLst>
          </p:cNvPr>
          <p:cNvSpPr>
            <a:spLocks xmlns:a="http://schemas.openxmlformats.org/drawingml/2006/main" noGrp="1"/>
          </p:cNvSpPr>
          <p:nvPr/>
        </p:nvSpPr>
        <p:spPr>
          <a:xfrm xmlns:a="http://schemas.openxmlformats.org/drawingml/2006/main">
            <a:off x="552450" y="1428750"/>
            <a:ext cx="11087100" cy="3333750"/>
          </a:xfrm>
          <a:prstGeom xmlns:a="http://schemas.openxmlformats.org/drawingml/2006/main" prst="rect">
            <a:avLst/>
          </a:prstGeom>
          <a:solidFill xmlns:a="http://schemas.openxmlformats.org/drawingml/2006/main">
            <a:srgbClr val="EDF1F4"/>
          </a:solidFill>
          <a:ln xmlns:a="http://schemas.openxmlformats.org/drawingml/2006/main" w="9525">
            <a:solidFill>
              <a:srgbClr val="B8C2CC"/>
            </a:solidFill>
            <a:prstDash val="solid"/>
          </a:ln>
        </p:spPr>
      </p:sp>
      <p:sp>
        <p:nvSpPr>
          <p:cNvPr id="4" name="close-title">
            <a:extLst xmlns:a="http://schemas.openxmlformats.org/drawingml/2006/main">
              <a:ext uri="{FF2B5EF4-FFF2-40B4-BE49-F238E27FC236}">
                <a16:creationId xmlns:a16="http://schemas.microsoft.com/office/drawing/2014/main" id="{C00EDDF6-6CF5-402D-A2BC-86E930B12204}"/>
              </a:ext>
            </a:extLst>
          </p:cNvPr>
          <p:cNvSpPr>
            <a:spLocks xmlns:a="http://schemas.openxmlformats.org/drawingml/2006/main" noGrp="1"/>
          </p:cNvSpPr>
          <p:nvPr/>
        </p:nvSpPr>
        <p:spPr>
          <a:xfrm xmlns:a="http://schemas.openxmlformats.org/drawingml/2006/main">
            <a:off x="914400" y="1952625"/>
            <a:ext cx="102870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3300" b="1">
                <a:solidFill>
                  <a:srgbClr val="10263D"/>
                </a:solidFill>
                <a:latin typeface="Arial"/>
                <a:ea typeface="Arial"/>
                <a:cs typeface="Arial"/>
              </a:defRPr>
            </a:pPr>
            <a:r>
              <a:rPr sz="3300" b="1">
                <a:solidFill>
                  <a:srgbClr val="10263D"/>
                </a:solidFill>
                <a:latin typeface="Arial"/>
                <a:ea typeface="Arial"/>
                <a:cs typeface="Arial"/>
              </a:rPr>
              <a:t>Use these three Clock ideas to complete the Weeks 11–12 checks and evidence.</a:t>
            </a:r>
          </a:p>
        </p:txBody>
      </p:sp>
      <p:sp>
        <p:nvSpPr>
          <p:cNvPr id="5" name="close-action">
            <a:extLst xmlns:a="http://schemas.openxmlformats.org/drawingml/2006/main">
              <a:ext uri="{FF2B5EF4-FFF2-40B4-BE49-F238E27FC236}">
                <a16:creationId xmlns:a16="http://schemas.microsoft.com/office/drawing/2014/main" id="{E9A7DE3D-1CE3-44F0-8B47-6EF20BEE4D59}"/>
              </a:ext>
            </a:extLst>
          </p:cNvPr>
          <p:cNvSpPr>
            <a:spLocks xmlns:a="http://schemas.openxmlformats.org/drawingml/2006/main" noGrp="1"/>
          </p:cNvSpPr>
          <p:nvPr/>
        </p:nvSpPr>
        <p:spPr>
          <a:xfrm xmlns:a="http://schemas.openxmlformats.org/drawingml/2006/main">
            <a:off x="1809750" y="5219700"/>
            <a:ext cx="857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a:solidFill>
                  <a:srgbClr val="526579"/>
                </a:solidFill>
                <a:latin typeface="Arial"/>
                <a:ea typeface="Arial"/>
                <a:cs typeface="Arial"/>
              </a:defRPr>
            </a:pPr>
            <a:r>
              <a:rPr sz="1800">
                <a:solidFill>
                  <a:srgbClr val="526579"/>
                </a:solidFill>
                <a:latin typeface="Arial"/>
                <a:ea typeface="Arial"/>
                <a:cs typeface="Arial"/>
              </a:rPr>
              <a:t>Complete the knowledge checks and written responses, then download your evidence as directed.</a:t>
            </a:r>
          </a:p>
        </p:txBody>
      </p:sp>
    </p:spTree>
    <p:extLst>
      <p:ext uri="{BB962C8B-B14F-4D97-AF65-F5344CB8AC3E}">
        <p14:creationId xmlns:p14="http://schemas.microsoft.com/office/powerpoint/2010/main" val="92550966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2026-08-15T10:19:28.1690000Z</dcterms:created>
  <dcterms:modified xsi:type="dcterms:W3CDTF">2026-08-15T10:19:28.1690000Z</dcterms:modified>
</coreProperties>
</file>