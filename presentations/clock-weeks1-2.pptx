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a48c6e77fd4330" /><Relationship Type="http://schemas.openxmlformats.org/officeDocument/2006/relationships/extended-properties" Target="/docProps/app.xml" Id="R481111ad28ce4d4c" /><Relationship Type="http://schemas.openxmlformats.org/officeDocument/2006/relationships/officeDocument" Target="/ppt/presentation.xml" Id="Rf4e0549a9f0b4a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7de77379804e70"/>
  </p:sldMasterIdLst>
  <p:notesMasterIdLst>
    <p:notesMasterId xmlns:r="http://schemas.openxmlformats.org/officeDocument/2006/relationships" r:id="R23b90a9fbd0543a5"/>
  </p:notesMasterIdLst>
  <p:sldIdLst>
    <p:sldId xmlns:r="http://schemas.openxmlformats.org/officeDocument/2006/relationships" id="256" r:id="Re105dcdb2e9a4c18"/>
    <p:sldId xmlns:r="http://schemas.openxmlformats.org/officeDocument/2006/relationships" id="257" r:id="R626b6a41317d451d"/>
    <p:sldId xmlns:r="http://schemas.openxmlformats.org/officeDocument/2006/relationships" id="258" r:id="R2c201e6cc5eb4272"/>
    <p:sldId xmlns:r="http://schemas.openxmlformats.org/officeDocument/2006/relationships" id="259" r:id="R363d3053dede4120"/>
    <p:sldId xmlns:r="http://schemas.openxmlformats.org/officeDocument/2006/relationships" id="260" r:id="R84514464c73c4b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fd720d60fc4a91" /><Relationship Type="http://schemas.openxmlformats.org/officeDocument/2006/relationships/slideMaster" Target="/ppt/slideMasters/slideMaster1.xml" Id="Rcd7de77379804e70" /><Relationship Type="http://schemas.openxmlformats.org/officeDocument/2006/relationships/notesMaster" Target="/ppt/notesMasters/notesMaster1.xml" Id="R23b90a9fbd0543a5" /><Relationship Type="http://schemas.openxmlformats.org/officeDocument/2006/relationships/presProps" Target="/ppt/presProps.xml" Id="Ra4677f699a6b48d5" /><Relationship Type="http://schemas.openxmlformats.org/officeDocument/2006/relationships/tableStyles" Target="/ppt/tableStyles.xml" Id="R2a69e25964cc4b7c" /><Relationship Type="http://schemas.openxmlformats.org/officeDocument/2006/relationships/slide" Target="/ppt/slides/slide1.xml" Id="Re105dcdb2e9a4c18" /><Relationship Type="http://schemas.openxmlformats.org/officeDocument/2006/relationships/slide" Target="/ppt/slides/slide2.xml" Id="R626b6a41317d451d" /><Relationship Type="http://schemas.openxmlformats.org/officeDocument/2006/relationships/slide" Target="/ppt/slides/slide3.xml" Id="R2c201e6cc5eb4272" /><Relationship Type="http://schemas.openxmlformats.org/officeDocument/2006/relationships/slide" Target="/ppt/slides/slide4.xml" Id="R363d3053dede4120" /><Relationship Type="http://schemas.openxmlformats.org/officeDocument/2006/relationships/slide" Target="/ppt/slides/slide5.xml" Id="R84514464c73c4b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2962624d7c4d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d4338b78ad4e36" /><Relationship Type="http://schemas.openxmlformats.org/officeDocument/2006/relationships/notesMaster" Target="/ppt/notesMasters/notesMaster1.xml" Id="R472288e047084f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806ff34d574d3e" /><Relationship Type="http://schemas.openxmlformats.org/officeDocument/2006/relationships/notesMaster" Target="/ppt/notesMasters/notesMaster1.xml" Id="R3aa2f61ac2e741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3910182a854972" /><Relationship Type="http://schemas.openxmlformats.org/officeDocument/2006/relationships/notesMaster" Target="/ppt/notesMasters/notesMaster1.xml" Id="Re68768de38ff47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315f1390b442cd" /><Relationship Type="http://schemas.openxmlformats.org/officeDocument/2006/relationships/notesMaster" Target="/ppt/notesMasters/notesMaster1.xml" Id="R63486ee1715847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a858ccfe5d46ee" /><Relationship Type="http://schemas.openxmlformats.org/officeDocument/2006/relationships/notesMaster" Target="/ppt/notesMasters/notesMaster1.xml" Id="Rf911a388a0bd47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290a0ca4e4c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fdbe6fa78f442a" /><Relationship Type="http://schemas.openxmlformats.org/officeDocument/2006/relationships/slideLayout" Target="/ppt/slideLayouts/slideLayout1.xml" Id="Rc1e2afc1e0714f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e2afc1e0714f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6c1eb8a7047fa" /><Relationship Type="http://schemas.openxmlformats.org/officeDocument/2006/relationships/image" Target="/ppt/media/image.png" Id="Rfd5a6ce26b5a4305" /><Relationship Type="http://schemas.openxmlformats.org/officeDocument/2006/relationships/notesSlide" Target="/ppt/notesSlides/notesSlide1.xml" Id="R223ac3e42ae347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d56f36883487e" /><Relationship Type="http://schemas.openxmlformats.org/officeDocument/2006/relationships/image" Target="/ppt/media/image2.png" Id="Rb8444ae087264a21" /><Relationship Type="http://schemas.openxmlformats.org/officeDocument/2006/relationships/notesSlide" Target="/ppt/notesSlides/notesSlide2.xml" Id="R4be0427780cc40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edb04bab64c15" /><Relationship Type="http://schemas.openxmlformats.org/officeDocument/2006/relationships/image" Target="/ppt/media/image3.png" Id="Rddf3d4b4168f4e94" /><Relationship Type="http://schemas.openxmlformats.org/officeDocument/2006/relationships/notesSlide" Target="/ppt/notesSlides/notesSlide3.xml" Id="R402dcc45adb543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058feb0994765" /><Relationship Type="http://schemas.openxmlformats.org/officeDocument/2006/relationships/image" Target="/ppt/media/image.jpeg" Id="Raeca8c42bf7743c8" /><Relationship Type="http://schemas.openxmlformats.org/officeDocument/2006/relationships/notesSlide" Target="/ppt/notesSlides/notesSlide4.xml" Id="R2721f3449e654e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aba1bf9e840aa" /><Relationship Type="http://schemas.openxmlformats.org/officeDocument/2006/relationships/notesSlide" Target="/ppt/notesSlides/notesSlide5.xml" Id="R8d75956bec3b46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a6ce26b5a4305"/>
          <a:stretch xmlns:a="http://schemas.openxmlformats.org/drawingml/2006/main"/>
        </p:blipFill>
        <p:spPr>
          <a:xfrm xmlns:a="http://schemas.openxmlformats.org/drawingml/2006/main">
            <a:off x="6667500" y="1294254"/>
            <a:ext cx="5524500" cy="4269491"/>
          </a:xfrm>
          <a:prstGeom xmlns:a="http://schemas.openxmlformats.org/drawingml/2006/main" prst="rect">
            <a:avLst/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25A2763-79F2-4E36-B0D3-98C0678E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109904C-037D-4419-B4A1-9FF14552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1 OF 10 · WEEKS 1–2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8DB95E0-3A9E-4413-9AAC-1F31E117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Brief, plans and workshop safety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91B3684-7C36-4325-A03F-3B31EF5C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Use the Clock drawing, the three theory sections and the module evidence in sequence.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DCBAFAA2-F2B4-437F-8CCB-B780E3C8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Clock Guided Course</a:t>
            </a:r>
          </a:p>
        </p:txBody>
      </p:sp>
    </p:spTree>
    <p:extLst>
      <p:ext uri="{BB962C8B-B14F-4D97-AF65-F5344CB8AC3E}">
        <p14:creationId xmlns:p14="http://schemas.microsoft.com/office/powerpoint/2010/main" val="1675411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B5FB6CAB-55A4-405E-B43F-142F0DA2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1 OF 10 · WEEKS 1–2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FD32725F-879A-48DB-B34E-14826CA8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44ae087264a21"/>
          <a:stretch xmlns:a="http://schemas.openxmlformats.org/drawingml/2006/main"/>
        </p:blipFill>
        <p:spPr>
          <a:xfrm xmlns:a="http://schemas.openxmlformats.org/drawingml/2006/main">
            <a:off x="6572250" y="1847605"/>
            <a:ext cx="5619750" cy="316279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0">
            <a:extLst xmlns:a="http://schemas.openxmlformats.org/drawingml/2006/main">
              <a:ext uri="{FF2B5EF4-FFF2-40B4-BE49-F238E27FC236}">
                <a16:creationId xmlns:a16="http://schemas.microsoft.com/office/drawing/2014/main" id="{23205889-88B0-481E-8F62-C37F443E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Understanding the Clock project brief and success criteria</a:t>
            </a:r>
          </a:p>
        </p:txBody>
      </p:sp>
      <p:sp>
        <p:nvSpPr>
          <p:cNvPr id="5" name="topic-body-0">
            <a:extLst xmlns:a="http://schemas.openxmlformats.org/drawingml/2006/main">
              <a:ext uri="{FF2B5EF4-FFF2-40B4-BE49-F238E27FC236}">
                <a16:creationId xmlns:a16="http://schemas.microsoft.com/office/drawing/2014/main" id="{9A7C4D73-6C74-46C8-BA1B-2B79C3F1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A project brief explains what you are expected to design, make and document. For this project, you will produce a free-standing timber clock with a hidden drawer.</a:t>
            </a:r>
          </a:p>
        </p:txBody>
      </p:sp>
      <p:sp>
        <p:nvSpPr>
          <p:cNvPr id="6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7D627AE7-D4DB-420C-8429-F0BA22D9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0">
            <a:extLst xmlns:a="http://schemas.openxmlformats.org/drawingml/2006/main">
              <a:ext uri="{FF2B5EF4-FFF2-40B4-BE49-F238E27FC236}">
                <a16:creationId xmlns:a16="http://schemas.microsoft.com/office/drawing/2014/main" id="{12ADEF3C-F06C-48B0-8139-39AB48F7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Success means producing a safe, accurate and well-finished clock while also providing clear evidence that shows how you planned, made and evaluated it.</a:t>
            </a:r>
          </a:p>
        </p:txBody>
      </p:sp>
    </p:spTree>
    <p:extLst>
      <p:ext uri="{BB962C8B-B14F-4D97-AF65-F5344CB8AC3E}">
        <p14:creationId xmlns:p14="http://schemas.microsoft.com/office/powerpoint/2010/main" val="1279335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9ACF9CD9-BBBC-4943-9DE8-95EE777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1 OF 10 · WEEKS 1–2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F35EDCE6-111B-4BB7-91AF-5F8FD5B9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9ED5EE92-7C3F-4B37-8F12-612606CC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3d4b4168f4e94"/>
          <a:stretch xmlns:a="http://schemas.openxmlformats.org/drawingml/2006/main"/>
        </p:blipFill>
        <p:spPr>
          <a:xfrm xmlns:a="http://schemas.openxmlformats.org/drawingml/2006/main">
            <a:off x="0" y="1257448"/>
            <a:ext cx="5619750" cy="4343103"/>
          </a:xfrm>
          <a:prstGeom xmlns:a="http://schemas.openxmlformats.org/drawingml/2006/main" prst="rect">
            <a:avLst/>
          </a:prstGeom>
        </p:spPr>
      </p:pic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EAF80792-0A21-4381-880D-165B52CA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Reading the Clock working drawing without scaling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F153EAEC-C84D-4958-A20B-9CF19C45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The Clock working drawing is the main source of information for the project’s shape, size and arrangement. It presents the object through orthographic views and a pictorial view.</a:t>
            </a:r>
          </a:p>
        </p:txBody>
      </p:sp>
      <p:sp>
        <p:nvSpPr>
          <p:cNvPr id="7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D0DDE9DE-3491-4835-B40A-3E6B9D6F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opic-check-1">
            <a:extLst xmlns:a="http://schemas.openxmlformats.org/drawingml/2006/main">
              <a:ext uri="{FF2B5EF4-FFF2-40B4-BE49-F238E27FC236}">
                <a16:creationId xmlns:a16="http://schemas.microsoft.com/office/drawing/2014/main" id="{5BB678FB-3006-404B-A3E9-1890902E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Read the written dimensions, trace where they apply and cross-check the views. Never take measurements directly from the printed Clock drawing.</a:t>
            </a:r>
          </a:p>
        </p:txBody>
      </p:sp>
    </p:spTree>
    <p:extLst>
      <p:ext uri="{BB962C8B-B14F-4D97-AF65-F5344CB8AC3E}">
        <p14:creationId xmlns:p14="http://schemas.microsoft.com/office/powerpoint/2010/main" val="1357957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4">
            <a:extLst xmlns:a="http://schemas.openxmlformats.org/drawingml/2006/main">
              <a:ext uri="{FF2B5EF4-FFF2-40B4-BE49-F238E27FC236}">
                <a16:creationId xmlns:a16="http://schemas.microsoft.com/office/drawing/2014/main" id="{7871E600-CAA8-4AC1-ACB1-221E0445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1 OF 10 · WEEKS 1–2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18011616-810E-40DE-B0AF-D0A5FAF8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a8c42bf7743c8"/>
          <a:stretch xmlns:a="http://schemas.openxmlformats.org/drawingml/2006/main"/>
        </p:blipFill>
        <p:spPr>
          <a:xfrm xmlns:a="http://schemas.openxmlformats.org/drawingml/2006/main">
            <a:off x="6810375" y="857250"/>
            <a:ext cx="514350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2F8FF077-203F-4863-BA73-3FAB7E66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Managing workshop hazards and risks for the Clock</a:t>
            </a:r>
          </a:p>
        </p:txBody>
      </p:sp>
      <p:sp>
        <p:nvSpPr>
          <p:cNvPr id="5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65D7B593-2C05-4A4C-B61E-9D40A7CC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Safe workshop practice begins with understanding the difference between a hazard , a risk and a control . A hazard is something with the potential to cause harm, such as moving machinery, timber dust, an unsecured component or a damaged power lead.</a:t>
            </a:r>
          </a:p>
        </p:txBody>
      </p:sp>
      <p:sp>
        <p:nvSpPr>
          <p:cNvPr id="6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30DC566E-0501-4305-8B80-7B6251D5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2">
            <a:extLst xmlns:a="http://schemas.openxmlformats.org/drawingml/2006/main">
              <a:ext uri="{FF2B5EF4-FFF2-40B4-BE49-F238E27FC236}">
                <a16:creationId xmlns:a16="http://schemas.microsoft.com/office/drawing/2014/main" id="{D4AC260E-D121-4859-BE20-597AC466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Identify the hazard, judge the risk and apply the strongest available controls before work begins. PPE is the final layer, not the whole safety system.</a:t>
            </a:r>
          </a:p>
        </p:txBody>
      </p:sp>
    </p:spTree>
    <p:extLst>
      <p:ext uri="{BB962C8B-B14F-4D97-AF65-F5344CB8AC3E}">
        <p14:creationId xmlns:p14="http://schemas.microsoft.com/office/powerpoint/2010/main" val="261403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1D2BE219-ABAE-4FCB-8D10-57976721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BEFORE YOU MOVE 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5D6B011C-E33C-495C-BAA2-845F04F4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lose-panel">
            <a:extLst xmlns:a="http://schemas.openxmlformats.org/drawingml/2006/main">
              <a:ext uri="{FF2B5EF4-FFF2-40B4-BE49-F238E27FC236}">
                <a16:creationId xmlns:a16="http://schemas.microsoft.com/office/drawing/2014/main" id="{D3B52223-2932-4969-AB87-C4E7F337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94EA334-B47A-4760-ADE3-7D3D844A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Use these three Clock ideas to complete the Weeks 1–2 checks and evidence.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6A505862-66D9-40B4-BF51-29590F34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Complete the knowledge checks and written responses, then download your evidence as directed.</a:t>
            </a:r>
          </a:p>
        </p:txBody>
      </p:sp>
    </p:spTree>
    <p:extLst>
      <p:ext uri="{BB962C8B-B14F-4D97-AF65-F5344CB8AC3E}">
        <p14:creationId xmlns:p14="http://schemas.microsoft.com/office/powerpoint/2010/main" val="1765896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2026-08-15T10:19:24.3290000Z</dcterms:created>
  <dcterms:modified xsi:type="dcterms:W3CDTF">2026-08-15T10:19:24.3290000Z</dcterms:modified>
</coreProperties>
</file>