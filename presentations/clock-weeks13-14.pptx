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bcc941bbb4854" /><Relationship Type="http://schemas.openxmlformats.org/officeDocument/2006/relationships/extended-properties" Target="/docProps/app.xml" Id="R61fcd5cbec414657" /><Relationship Type="http://schemas.openxmlformats.org/officeDocument/2006/relationships/officeDocument" Target="/ppt/presentation.xml" Id="Rf04c5fceb9ef44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8d41a1d324f54"/>
  </p:sldMasterIdLst>
  <p:notesMasterIdLst>
    <p:notesMasterId xmlns:r="http://schemas.openxmlformats.org/officeDocument/2006/relationships" r:id="R1d10fb9c6b2143ca"/>
  </p:notesMasterIdLst>
  <p:sldIdLst>
    <p:sldId xmlns:r="http://schemas.openxmlformats.org/officeDocument/2006/relationships" id="256" r:id="R86c05267e905471e"/>
    <p:sldId xmlns:r="http://schemas.openxmlformats.org/officeDocument/2006/relationships" id="257" r:id="R790fcefc62a14a85"/>
    <p:sldId xmlns:r="http://schemas.openxmlformats.org/officeDocument/2006/relationships" id="258" r:id="R95405d00e056467f"/>
    <p:sldId xmlns:r="http://schemas.openxmlformats.org/officeDocument/2006/relationships" id="259" r:id="R2aeea89e746145d5"/>
    <p:sldId xmlns:r="http://schemas.openxmlformats.org/officeDocument/2006/relationships" id="260" r:id="R0f503bb586434f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793673c094e45" /><Relationship Type="http://schemas.openxmlformats.org/officeDocument/2006/relationships/slideMaster" Target="/ppt/slideMasters/slideMaster1.xml" Id="R0778d41a1d324f54" /><Relationship Type="http://schemas.openxmlformats.org/officeDocument/2006/relationships/notesMaster" Target="/ppt/notesMasters/notesMaster1.xml" Id="R1d10fb9c6b2143ca" /><Relationship Type="http://schemas.openxmlformats.org/officeDocument/2006/relationships/presProps" Target="/ppt/presProps.xml" Id="R43af1da8b00f4442" /><Relationship Type="http://schemas.openxmlformats.org/officeDocument/2006/relationships/tableStyles" Target="/ppt/tableStyles.xml" Id="Rd122ee460d2441fa" /><Relationship Type="http://schemas.openxmlformats.org/officeDocument/2006/relationships/slide" Target="/ppt/slides/slide1.xml" Id="R86c05267e905471e" /><Relationship Type="http://schemas.openxmlformats.org/officeDocument/2006/relationships/slide" Target="/ppt/slides/slide2.xml" Id="R790fcefc62a14a85" /><Relationship Type="http://schemas.openxmlformats.org/officeDocument/2006/relationships/slide" Target="/ppt/slides/slide3.xml" Id="R95405d00e056467f" /><Relationship Type="http://schemas.openxmlformats.org/officeDocument/2006/relationships/slide" Target="/ppt/slides/slide4.xml" Id="R2aeea89e746145d5" /><Relationship Type="http://schemas.openxmlformats.org/officeDocument/2006/relationships/slide" Target="/ppt/slides/slide5.xml" Id="R0f503bb586434f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fe0fd7afa240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ae77f137234a28" /><Relationship Type="http://schemas.openxmlformats.org/officeDocument/2006/relationships/notesMaster" Target="/ppt/notesMasters/notesMaster1.xml" Id="Rd280301d926447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4e1010ebb641d6" /><Relationship Type="http://schemas.openxmlformats.org/officeDocument/2006/relationships/notesMaster" Target="/ppt/notesMasters/notesMaster1.xml" Id="Rd929ed7d9adf43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2b82cbf89c41a6" /><Relationship Type="http://schemas.openxmlformats.org/officeDocument/2006/relationships/notesMaster" Target="/ppt/notesMasters/notesMaster1.xml" Id="Refe928a2d91645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bb2e2a5317470c" /><Relationship Type="http://schemas.openxmlformats.org/officeDocument/2006/relationships/notesMaster" Target="/ppt/notesMasters/notesMaster1.xml" Id="R0401ad08e0dd44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98a695a9fd47b6" /><Relationship Type="http://schemas.openxmlformats.org/officeDocument/2006/relationships/notesMaster" Target="/ppt/notesMasters/notesMaster1.xml" Id="R2e5eb8887030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a8585e04d4c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01cb0170543d8" /><Relationship Type="http://schemas.openxmlformats.org/officeDocument/2006/relationships/slideLayout" Target="/ppt/slideLayouts/slideLayout1.xml" Id="R356cd829d5694f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6cd829d5694f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de99c2a1e48a7" /><Relationship Type="http://schemas.openxmlformats.org/officeDocument/2006/relationships/image" Target="/ppt/media/image.png" Id="Rb1011aa865f041d1" /><Relationship Type="http://schemas.openxmlformats.org/officeDocument/2006/relationships/notesSlide" Target="/ppt/notesSlides/notesSlide1.xml" Id="Rf3c30197f0ae4b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b62493c81442c" /><Relationship Type="http://schemas.openxmlformats.org/officeDocument/2006/relationships/image" Target="/ppt/media/image2.png" Id="R237998643496428e" /><Relationship Type="http://schemas.openxmlformats.org/officeDocument/2006/relationships/notesSlide" Target="/ppt/notesSlides/notesSlide2.xml" Id="R8e6a3c9817d6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e44f4b2c648da" /><Relationship Type="http://schemas.openxmlformats.org/officeDocument/2006/relationships/image" Target="/ppt/media/image3.png" Id="R0dd72a9deb734af9" /><Relationship Type="http://schemas.openxmlformats.org/officeDocument/2006/relationships/notesSlide" Target="/ppt/notesSlides/notesSlide3.xml" Id="R76b69a6b143f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ca0202df8469a" /><Relationship Type="http://schemas.openxmlformats.org/officeDocument/2006/relationships/image" Target="/ppt/media/image4.png" Id="R892ce1b553c449fd" /><Relationship Type="http://schemas.openxmlformats.org/officeDocument/2006/relationships/notesSlide" Target="/ppt/notesSlides/notesSlide4.xml" Id="R3094f403b3434b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f6d635c024c05" /><Relationship Type="http://schemas.openxmlformats.org/officeDocument/2006/relationships/notesSlide" Target="/ppt/notesSlides/notesSlide5.xml" Id="R3da0c3e77ee44d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11aa865f041d1"/>
          <a:stretch xmlns:a="http://schemas.openxmlformats.org/drawingml/2006/main"/>
        </p:blipFill>
        <p:spPr>
          <a:xfrm xmlns:a="http://schemas.openxmlformats.org/drawingml/2006/main">
            <a:off x="6667500" y="1294254"/>
            <a:ext cx="5524500" cy="4269491"/>
          </a:xfrm>
          <a:prstGeom xmlns:a="http://schemas.openxmlformats.org/drawingml/2006/main" prst="rect">
            <a:avLst/>
          </a:prstGeom>
        </p:spPr>
      </p:pic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5FD74A0-292B-42B4-A5FE-2725FF4F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1128078-6841-4787-BBDA-BF99585F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7 OF 10 · WEEKS 13–14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711ACE8-810B-4247-8EDF-CB6913FE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Oil finish and clock mechanism fit-up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F4778BF-039D-440F-B4ED-403A4EB6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Use the Clock drawing, the three theory sections and the module evidence in sequence.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C6C8720-6A0F-4D01-B923-0630CDDA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79"/>
                </a:solidFill>
                <a:latin typeface="Arial"/>
                <a:ea typeface="Arial"/>
                <a:cs typeface="Arial"/>
              </a:rPr>
              <a:t>Clock Guided Course</a:t>
            </a:r>
          </a:p>
        </p:txBody>
      </p:sp>
    </p:spTree>
    <p:extLst>
      <p:ext uri="{BB962C8B-B14F-4D97-AF65-F5344CB8AC3E}">
        <p14:creationId xmlns:p14="http://schemas.microsoft.com/office/powerpoint/2010/main" val="1709907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39E94352-677D-4E80-BECB-2790B619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7 OF 10 · WEEKS 13–14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7C99F7DB-A88E-489D-A7F1-796DB601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998643496428e"/>
          <a:stretch xmlns:a="http://schemas.openxmlformats.org/drawingml/2006/main"/>
        </p:blipFill>
        <p:spPr>
          <a:xfrm xmlns:a="http://schemas.openxmlformats.org/drawingml/2006/main">
            <a:off x="657225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0">
            <a:extLst xmlns:a="http://schemas.openxmlformats.org/drawingml/2006/main">
              <a:ext uri="{FF2B5EF4-FFF2-40B4-BE49-F238E27FC236}">
                <a16:creationId xmlns:a16="http://schemas.microsoft.com/office/drawing/2014/main" id="{8A817BFD-711C-4840-8418-1210F1E8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Planning the three-coat oil finish</a:t>
            </a:r>
          </a:p>
        </p:txBody>
      </p:sp>
      <p:sp>
        <p:nvSpPr>
          <p:cNvPr id="5" name="topic-body-0">
            <a:extLst xmlns:a="http://schemas.openxmlformats.org/drawingml/2006/main">
              <a:ext uri="{FF2B5EF4-FFF2-40B4-BE49-F238E27FC236}">
                <a16:creationId xmlns:a16="http://schemas.microsoft.com/office/drawing/2014/main" id="{F367A05F-C2F5-4C1A-9802-1C26810C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A three-coat oil finish should be treated as a planned sequence, not as one long finishing session. Each coat must be applied under teacher direction using the approved product information.</a:t>
            </a:r>
          </a:p>
        </p:txBody>
      </p:sp>
      <p:sp>
        <p:nvSpPr>
          <p:cNvPr id="6" name="check-rule-0">
            <a:extLst xmlns:a="http://schemas.openxmlformats.org/drawingml/2006/main">
              <a:ext uri="{FF2B5EF4-FFF2-40B4-BE49-F238E27FC236}">
                <a16:creationId xmlns:a16="http://schemas.microsoft.com/office/drawing/2014/main" id="{3E01C223-174F-45B0-B474-022B7717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0">
            <a:extLst xmlns:a="http://schemas.openxmlformats.org/drawingml/2006/main">
              <a:ext uri="{FF2B5EF4-FFF2-40B4-BE49-F238E27FC236}">
                <a16:creationId xmlns:a16="http://schemas.microsoft.com/office/drawing/2014/main" id="{A0A4907B-0D44-45A2-A83D-673F7024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reliable three-coat finish comes from repeating the same approved preparation, application, inspection and recording process for every coat.</a:t>
            </a:r>
          </a:p>
        </p:txBody>
      </p:sp>
    </p:spTree>
    <p:extLst>
      <p:ext uri="{BB962C8B-B14F-4D97-AF65-F5344CB8AC3E}">
        <p14:creationId xmlns:p14="http://schemas.microsoft.com/office/powerpoint/2010/main" val="1756796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A808CAD5-7DE1-4C25-AAD8-9F61CD0E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7 OF 10 · WEEKS 13–14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CEBD6137-EF3E-40CD-A04E-0730E615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F92D01F1-3182-4323-84C7-2E378CAB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72a9deb734af9"/>
          <a:stretch xmlns:a="http://schemas.openxmlformats.org/drawingml/2006/main"/>
        </p:blipFill>
        <p:spPr>
          <a:xfrm xmlns:a="http://schemas.openxmlformats.org/drawingml/2006/main">
            <a:off x="0" y="1847605"/>
            <a:ext cx="5619750" cy="3162790"/>
          </a:xfrm>
          <a:prstGeom xmlns:a="http://schemas.openxmlformats.org/drawingml/2006/main" prst="rect">
            <a:avLst/>
          </a:prstGeom>
        </p:spPr>
      </p:pic>
      <p:sp>
        <p:nvSpPr>
          <p:cNvPr id="5" name="topic-title-1">
            <a:extLst xmlns:a="http://schemas.openxmlformats.org/drawingml/2006/main">
              <a:ext uri="{FF2B5EF4-FFF2-40B4-BE49-F238E27FC236}">
                <a16:creationId xmlns:a16="http://schemas.microsoft.com/office/drawing/2014/main" id="{DDE7A3D5-A180-420A-BBBA-09AFA508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Oil finish safety, application and between-coat quality</a:t>
            </a:r>
          </a:p>
        </p:txBody>
      </p:sp>
      <p:sp>
        <p:nvSpPr>
          <p:cNvPr id="6" name="topic-body-1">
            <a:extLst xmlns:a="http://schemas.openxmlformats.org/drawingml/2006/main">
              <a:ext uri="{FF2B5EF4-FFF2-40B4-BE49-F238E27FC236}">
                <a16:creationId xmlns:a16="http://schemas.microsoft.com/office/drawing/2014/main" id="{238D61F9-83EE-48E6-9713-7E61EE8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An oil finish can improve the appearance of the Clock and protect its prepared timber surfaces, but it must be treated as a chemical product rather than simply “painted on”.</a:t>
            </a:r>
          </a:p>
        </p:txBody>
      </p:sp>
      <p:sp>
        <p:nvSpPr>
          <p:cNvPr id="7" name="check-rule-1">
            <a:extLst xmlns:a="http://schemas.openxmlformats.org/drawingml/2006/main">
              <a:ext uri="{FF2B5EF4-FFF2-40B4-BE49-F238E27FC236}">
                <a16:creationId xmlns:a16="http://schemas.microsoft.com/office/drawing/2014/main" id="{F9C3C9E4-8E90-447D-BEF4-1E3556F2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opic-check-1">
            <a:extLst xmlns:a="http://schemas.openxmlformats.org/drawingml/2006/main">
              <a:ext uri="{FF2B5EF4-FFF2-40B4-BE49-F238E27FC236}">
                <a16:creationId xmlns:a16="http://schemas.microsoft.com/office/drawing/2014/main" id="{4BBF18DA-0BDF-4633-B96D-BCC6F991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 successful three-coat finish depends on following the actual product instructions, applying controlled coverage and using recorded evidence to decide when each coat is safe and ready for…</a:t>
            </a:r>
          </a:p>
        </p:txBody>
      </p:sp>
    </p:spTree>
    <p:extLst>
      <p:ext uri="{BB962C8B-B14F-4D97-AF65-F5344CB8AC3E}">
        <p14:creationId xmlns:p14="http://schemas.microsoft.com/office/powerpoint/2010/main" val="1712683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4">
            <a:extLst xmlns:a="http://schemas.openxmlformats.org/drawingml/2006/main">
              <a:ext uri="{FF2B5EF4-FFF2-40B4-BE49-F238E27FC236}">
                <a16:creationId xmlns:a16="http://schemas.microsoft.com/office/drawing/2014/main" id="{4B73F467-2F13-4E34-B053-E16C6A16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MODULE 7 OF 10 · WEEKS 13–14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B2ADEA29-DE1C-4562-B849-B4D4E2AC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ce1b553c449fd"/>
          <a:stretch xmlns:a="http://schemas.openxmlformats.org/drawingml/2006/main"/>
        </p:blipFill>
        <p:spPr>
          <a:xfrm xmlns:a="http://schemas.openxmlformats.org/drawingml/2006/main">
            <a:off x="7323991" y="857250"/>
            <a:ext cx="4116267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topic-title-2">
            <a:extLst xmlns:a="http://schemas.openxmlformats.org/drawingml/2006/main">
              <a:ext uri="{FF2B5EF4-FFF2-40B4-BE49-F238E27FC236}">
                <a16:creationId xmlns:a16="http://schemas.microsoft.com/office/drawing/2014/main" id="{C9B166FB-054F-4034-865E-0B48FAE1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4953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Accurate fit-up of the battery clock mechanism</a:t>
            </a:r>
          </a:p>
        </p:txBody>
      </p:sp>
      <p:sp>
        <p:nvSpPr>
          <p:cNvPr id="5" name="topic-body-2">
            <a:extLst xmlns:a="http://schemas.openxmlformats.org/drawingml/2006/main">
              <a:ext uri="{FF2B5EF4-FFF2-40B4-BE49-F238E27FC236}">
                <a16:creationId xmlns:a16="http://schemas.microsoft.com/office/drawing/2014/main" id="{18095F6D-DD12-41EC-982A-9B98D3B5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526579"/>
                </a:solidFill>
                <a:latin typeface="Arial"/>
                <a:ea typeface="Arial"/>
                <a:cs typeface="Arial"/>
              </a:rPr>
              <a:t>Fitting the battery clock mechanism is a precision stage, not a force-fit task. The aim is to connect the completed timber body with the supplied mechanism so the Clock is secure, correctly aligned and able to operate without interference.</a:t>
            </a:r>
          </a:p>
        </p:txBody>
      </p:sp>
      <p:sp>
        <p:nvSpPr>
          <p:cNvPr id="6" name="check-rule-2">
            <a:extLst xmlns:a="http://schemas.openxmlformats.org/drawingml/2006/main">
              <a:ext uri="{FF2B5EF4-FFF2-40B4-BE49-F238E27FC236}">
                <a16:creationId xmlns:a16="http://schemas.microsoft.com/office/drawing/2014/main" id="{A4F5D26D-D75C-4510-A753-108562E9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opic-check-2">
            <a:extLst xmlns:a="http://schemas.openxmlformats.org/drawingml/2006/main">
              <a:ext uri="{FF2B5EF4-FFF2-40B4-BE49-F238E27FC236}">
                <a16:creationId xmlns:a16="http://schemas.microsoft.com/office/drawing/2014/main" id="{5549ADD6-6E6A-4BB5-8544-2D5A5F6D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Accurate fit-up comes from checking compatibility, alignment, clearance and function against the supplied mechanism information—not from forcing parts or making unapproved alterations.</a:t>
            </a:r>
          </a:p>
        </p:txBody>
      </p:sp>
    </p:spTree>
    <p:extLst>
      <p:ext uri="{BB962C8B-B14F-4D97-AF65-F5344CB8AC3E}">
        <p14:creationId xmlns:p14="http://schemas.microsoft.com/office/powerpoint/2010/main" val="980754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5">
            <a:extLst xmlns:a="http://schemas.openxmlformats.org/drawingml/2006/main">
              <a:ext uri="{FF2B5EF4-FFF2-40B4-BE49-F238E27FC236}">
                <a16:creationId xmlns:a16="http://schemas.microsoft.com/office/drawing/2014/main" id="{3EA69CBC-EA2B-4C2C-B52B-E0704550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F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FAD"/>
                </a:solidFill>
                <a:latin typeface="Arial"/>
                <a:ea typeface="Arial"/>
                <a:cs typeface="Arial"/>
              </a:rPr>
              <a:t>BEFORE YOU MOVE 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9A0D7018-637B-419A-A18D-3626D0DC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24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5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close-panel">
            <a:extLst xmlns:a="http://schemas.openxmlformats.org/drawingml/2006/main">
              <a:ext uri="{FF2B5EF4-FFF2-40B4-BE49-F238E27FC236}">
                <a16:creationId xmlns:a16="http://schemas.microsoft.com/office/drawing/2014/main" id="{05EFFEAE-4CE1-46FC-9A64-7407742C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6017FB5-990E-4CF9-AB2E-ED0B14FC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0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63D"/>
                </a:solidFill>
                <a:latin typeface="Arial"/>
                <a:ea typeface="Arial"/>
                <a:cs typeface="Arial"/>
              </a:rPr>
              <a:t>Use these three Clock ideas to complete the Weeks 13–14 checks and evidence.</a:t>
            </a:r>
          </a:p>
        </p:txBody>
      </p:sp>
      <p:sp>
        <p:nvSpPr>
          <p:cNvPr id="5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EB8DB8E1-57CB-4FC9-804E-AC7B858F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Complete the knowledge checks and written responses, then download your evidence as directed.</a:t>
            </a:r>
          </a:p>
        </p:txBody>
      </p:sp>
    </p:spTree>
    <p:extLst>
      <p:ext uri="{BB962C8B-B14F-4D97-AF65-F5344CB8AC3E}">
        <p14:creationId xmlns:p14="http://schemas.microsoft.com/office/powerpoint/2010/main" val="121614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2026-08-15T10:19:29.0480000Z</dcterms:created>
  <dcterms:modified xsi:type="dcterms:W3CDTF">2026-08-15T10:19:29.0480000Z</dcterms:modified>
</coreProperties>
</file>