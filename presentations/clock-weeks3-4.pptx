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07b148d01146a7" /><Relationship Type="http://schemas.openxmlformats.org/officeDocument/2006/relationships/extended-properties" Target="/docProps/app.xml" Id="R8e7441f927a742de" /><Relationship Type="http://schemas.openxmlformats.org/officeDocument/2006/relationships/officeDocument" Target="/ppt/presentation.xml" Id="R6ec869067aff420a" /></Relationships>
</file>

<file path=ppt/presentation.xml><?xml version="1.0" encoding="utf-8"?>
<p:presentation xmlns:p="http://schemas.openxmlformats.org/presentationml/2006/main">
  <p:sldMasterIdLst>
    <p:sldMasterId xmlns:r="http://schemas.openxmlformats.org/officeDocument/2006/relationships" id="2147483648" r:id="R0e741cf517254907"/>
  </p:sldMasterIdLst>
  <p:notesMasterIdLst>
    <p:notesMasterId xmlns:r="http://schemas.openxmlformats.org/officeDocument/2006/relationships" r:id="R987f83d5f6a249af"/>
  </p:notesMasterIdLst>
  <p:sldIdLst>
    <p:sldId xmlns:r="http://schemas.openxmlformats.org/officeDocument/2006/relationships" id="256" r:id="Re11ec01734dc49c9"/>
    <p:sldId xmlns:r="http://schemas.openxmlformats.org/officeDocument/2006/relationships" id="257" r:id="Reced3f3085414576"/>
    <p:sldId xmlns:r="http://schemas.openxmlformats.org/officeDocument/2006/relationships" id="258" r:id="Rfdcad25629b34f8d"/>
    <p:sldId xmlns:r="http://schemas.openxmlformats.org/officeDocument/2006/relationships" id="259" r:id="Rb42d275cf6614e6e"/>
    <p:sldId xmlns:r="http://schemas.openxmlformats.org/officeDocument/2006/relationships" id="260" r:id="Rf18fc14011b646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f2672e1ae948e7" /><Relationship Type="http://schemas.openxmlformats.org/officeDocument/2006/relationships/slideMaster" Target="/ppt/slideMasters/slideMaster1.xml" Id="R0e741cf517254907" /><Relationship Type="http://schemas.openxmlformats.org/officeDocument/2006/relationships/notesMaster" Target="/ppt/notesMasters/notesMaster1.xml" Id="R987f83d5f6a249af" /><Relationship Type="http://schemas.openxmlformats.org/officeDocument/2006/relationships/presProps" Target="/ppt/presProps.xml" Id="Rf120fbc707bb4f1b" /><Relationship Type="http://schemas.openxmlformats.org/officeDocument/2006/relationships/tableStyles" Target="/ppt/tableStyles.xml" Id="Rfe767ce177694032" /><Relationship Type="http://schemas.openxmlformats.org/officeDocument/2006/relationships/slide" Target="/ppt/slides/slide1.xml" Id="Re11ec01734dc49c9" /><Relationship Type="http://schemas.openxmlformats.org/officeDocument/2006/relationships/slide" Target="/ppt/slides/slide2.xml" Id="Reced3f3085414576" /><Relationship Type="http://schemas.openxmlformats.org/officeDocument/2006/relationships/slide" Target="/ppt/slides/slide3.xml" Id="Rfdcad25629b34f8d" /><Relationship Type="http://schemas.openxmlformats.org/officeDocument/2006/relationships/slide" Target="/ppt/slides/slide4.xml" Id="Rb42d275cf6614e6e" /><Relationship Type="http://schemas.openxmlformats.org/officeDocument/2006/relationships/slide" Target="/ppt/slides/slide5.xml" Id="Rf18fc14011b646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6f627d1d7340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afef2f5f384177" /><Relationship Type="http://schemas.openxmlformats.org/officeDocument/2006/relationships/notesMaster" Target="/ppt/notesMasters/notesMaster1.xml" Id="Rc220f3b59cb240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818ea5219741ed" /><Relationship Type="http://schemas.openxmlformats.org/officeDocument/2006/relationships/notesMaster" Target="/ppt/notesMasters/notesMaster1.xml" Id="R860914f937d348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dd27fb90114e20" /><Relationship Type="http://schemas.openxmlformats.org/officeDocument/2006/relationships/notesMaster" Target="/ppt/notesMasters/notesMaster1.xml" Id="Rc24c86d51a194e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7563d9294d4d7c" /><Relationship Type="http://schemas.openxmlformats.org/officeDocument/2006/relationships/notesMaster" Target="/ppt/notesMasters/notesMaster1.xml" Id="R9434caadbad54a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16b64340ef4971" /><Relationship Type="http://schemas.openxmlformats.org/officeDocument/2006/relationships/notesMaster" Target="/ppt/notesMasters/notesMaster1.xml" Id="R8028c4ccc3fc48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56b228d56d4a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b0ca0683d646c0" /><Relationship Type="http://schemas.openxmlformats.org/officeDocument/2006/relationships/slideLayout" Target="/ppt/slideLayouts/slideLayout1.xml" Id="R3232cfe803ca42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32cfe803ca42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facb4ab5c5495f" /><Relationship Type="http://schemas.openxmlformats.org/officeDocument/2006/relationships/image" Target="/ppt/media/image.png" Id="R468d50828cdd4405" /><Relationship Type="http://schemas.openxmlformats.org/officeDocument/2006/relationships/notesSlide" Target="/ppt/notesSlides/notesSlide1.xml" Id="R2952da4c25fc44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6c0b1f165f459f" /><Relationship Type="http://schemas.openxmlformats.org/officeDocument/2006/relationships/image" Target="/ppt/media/image2.png" Id="Rceb4113e2a1d4e18" /><Relationship Type="http://schemas.openxmlformats.org/officeDocument/2006/relationships/notesSlide" Target="/ppt/notesSlides/notesSlide2.xml" Id="Ra9d4e547b8924b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9dddb1012b4dfb" /><Relationship Type="http://schemas.openxmlformats.org/officeDocument/2006/relationships/image" Target="/ppt/media/image3.png" Id="R4896ebd06dd04707" /><Relationship Type="http://schemas.openxmlformats.org/officeDocument/2006/relationships/notesSlide" Target="/ppt/notesSlides/notesSlide3.xml" Id="Re1eae0af71da48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6f4eefe25747af" /><Relationship Type="http://schemas.openxmlformats.org/officeDocument/2006/relationships/image" Target="/ppt/media/image4.png" Id="Rdbb24decaedb4024" /><Relationship Type="http://schemas.openxmlformats.org/officeDocument/2006/relationships/notesSlide" Target="/ppt/notesSlides/notesSlide4.xml" Id="R802d2e86d9e445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1c96d81df242a2" /><Relationship Type="http://schemas.openxmlformats.org/officeDocument/2006/relationships/notesSlide" Target="/ppt/notesSlides/notesSlide5.xml" Id="Re34bb0d3909e440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68d50828cdd4405"/>
          <a:stretch xmlns:a="http://schemas.openxmlformats.org/drawingml/2006/main"/>
        </p:blipFill>
        <p:spPr>
          <a:xfrm xmlns:a="http://schemas.openxmlformats.org/drawingml/2006/main">
            <a:off x="6667500" y="1294254"/>
            <a:ext cx="5524500" cy="4269491"/>
          </a:xfrm>
          <a:prstGeom xmlns:a="http://schemas.openxmlformats.org/drawingml/2006/main" prst="rect">
            <a:avLst/>
          </a:prstGeom>
        </p:spPr>
      </p:pic>
      <p:sp>
        <p:nvSpPr>
          <p:cNvPr id="2" name="cover-accent">
            <a:extLst xmlns:a="http://schemas.openxmlformats.org/drawingml/2006/main">
              <a:ext uri="{FF2B5EF4-FFF2-40B4-BE49-F238E27FC236}">
                <a16:creationId xmlns:a16="http://schemas.microsoft.com/office/drawing/2014/main" id="{480454F9-89CA-4EFA-8B51-9E42C35FB4B2}"/>
              </a:ext>
            </a:extLst>
          </p:cNvPr>
          <p:cNvSpPr>
            <a:spLocks xmlns:a="http://schemas.openxmlformats.org/drawingml/2006/main" noGrp="1"/>
          </p:cNvSpPr>
          <p:nvPr/>
        </p:nvSpPr>
        <p:spPr>
          <a:xfrm xmlns:a="http://schemas.openxmlformats.org/drawingml/2006/main">
            <a:off x="6286500" y="0"/>
            <a:ext cx="3810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cover-eyebrow">
            <a:extLst xmlns:a="http://schemas.openxmlformats.org/drawingml/2006/main">
              <a:ext uri="{FF2B5EF4-FFF2-40B4-BE49-F238E27FC236}">
                <a16:creationId xmlns:a16="http://schemas.microsoft.com/office/drawing/2014/main" id="{B076BCA4-59E5-486F-843A-C844898B9D0C}"/>
              </a:ext>
            </a:extLst>
          </p:cNvPr>
          <p:cNvSpPr>
            <a:spLocks xmlns:a="http://schemas.openxmlformats.org/drawingml/2006/main" noGrp="1"/>
          </p:cNvSpPr>
          <p:nvPr/>
        </p:nvSpPr>
        <p:spPr>
          <a:xfrm xmlns:a="http://schemas.openxmlformats.org/drawingml/2006/main">
            <a:off x="571500" y="6858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B5FAD"/>
                </a:solidFill>
                <a:latin typeface="Arial"/>
                <a:ea typeface="Arial"/>
                <a:cs typeface="Arial"/>
              </a:defRPr>
            </a:pPr>
            <a:r>
              <a:rPr sz="1350" b="1">
                <a:solidFill>
                  <a:srgbClr val="0B5FAD"/>
                </a:solidFill>
                <a:latin typeface="Arial"/>
                <a:ea typeface="Arial"/>
                <a:cs typeface="Arial"/>
              </a:rPr>
              <a:t>MODULE 2 OF 10 · WEEKS 3–4</a:t>
            </a:r>
          </a:p>
        </p:txBody>
      </p:sp>
      <p:sp>
        <p:nvSpPr>
          <p:cNvPr id="4" name="cover-title">
            <a:extLst xmlns:a="http://schemas.openxmlformats.org/drawingml/2006/main">
              <a:ext uri="{FF2B5EF4-FFF2-40B4-BE49-F238E27FC236}">
                <a16:creationId xmlns:a16="http://schemas.microsoft.com/office/drawing/2014/main" id="{8D5A8EB1-2B05-400E-97D0-89F6A139D7DA}"/>
              </a:ext>
            </a:extLst>
          </p:cNvPr>
          <p:cNvSpPr>
            <a:spLocks xmlns:a="http://schemas.openxmlformats.org/drawingml/2006/main" noGrp="1"/>
          </p:cNvSpPr>
          <p:nvPr/>
        </p:nvSpPr>
        <p:spPr>
          <a:xfrm xmlns:a="http://schemas.openxmlformats.org/drawingml/2006/main">
            <a:off x="571500" y="15049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10263D"/>
                </a:solidFill>
                <a:latin typeface="Arial"/>
                <a:ea typeface="Arial"/>
                <a:cs typeface="Arial"/>
              </a:defRPr>
            </a:pPr>
            <a:r>
              <a:rPr sz="4200" b="1">
                <a:solidFill>
                  <a:srgbClr val="10263D"/>
                </a:solidFill>
                <a:latin typeface="Arial"/>
                <a:ea typeface="Arial"/>
                <a:cs typeface="Arial"/>
              </a:rPr>
              <a:t>Materials, WMS and cutting-list planning</a:t>
            </a:r>
          </a:p>
        </p:txBody>
      </p:sp>
      <p:sp>
        <p:nvSpPr>
          <p:cNvPr id="5" name="cover-subtitle">
            <a:extLst xmlns:a="http://schemas.openxmlformats.org/drawingml/2006/main">
              <a:ext uri="{FF2B5EF4-FFF2-40B4-BE49-F238E27FC236}">
                <a16:creationId xmlns:a16="http://schemas.microsoft.com/office/drawing/2014/main" id="{BD129D1D-A197-4C01-BE1E-B16FD0C299C9}"/>
              </a:ext>
            </a:extLst>
          </p:cNvPr>
          <p:cNvSpPr>
            <a:spLocks xmlns:a="http://schemas.openxmlformats.org/drawingml/2006/main" noGrp="1"/>
          </p:cNvSpPr>
          <p:nvPr/>
        </p:nvSpPr>
        <p:spPr>
          <a:xfrm xmlns:a="http://schemas.openxmlformats.org/drawingml/2006/main">
            <a:off x="571500" y="4095750"/>
            <a:ext cx="514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526579"/>
                </a:solidFill>
                <a:latin typeface="Arial"/>
                <a:ea typeface="Arial"/>
                <a:cs typeface="Arial"/>
              </a:defRPr>
            </a:pPr>
            <a:r>
              <a:rPr sz="1800">
                <a:solidFill>
                  <a:srgbClr val="526579"/>
                </a:solidFill>
                <a:latin typeface="Arial"/>
                <a:ea typeface="Arial"/>
                <a:cs typeface="Arial"/>
              </a:rPr>
              <a:t>Use the Clock drawing, the three theory sections and the module evidence in sequence.</a:t>
            </a:r>
          </a:p>
        </p:txBody>
      </p:sp>
      <p:sp>
        <p:nvSpPr>
          <p:cNvPr id="6" name="cover-footer">
            <a:extLst xmlns:a="http://schemas.openxmlformats.org/drawingml/2006/main">
              <a:ext uri="{FF2B5EF4-FFF2-40B4-BE49-F238E27FC236}">
                <a16:creationId xmlns:a16="http://schemas.microsoft.com/office/drawing/2014/main" id="{268EED09-6143-405D-BB65-F7DD26135EE0}"/>
              </a:ext>
            </a:extLst>
          </p:cNvPr>
          <p:cNvSpPr>
            <a:spLocks xmlns:a="http://schemas.openxmlformats.org/drawingml/2006/main" noGrp="1"/>
          </p:cNvSpPr>
          <p:nvPr/>
        </p:nvSpPr>
        <p:spPr>
          <a:xfrm xmlns:a="http://schemas.openxmlformats.org/drawingml/2006/main">
            <a:off x="571500" y="6153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26579"/>
                </a:solidFill>
                <a:latin typeface="Arial"/>
                <a:ea typeface="Arial"/>
                <a:cs typeface="Arial"/>
              </a:defRPr>
            </a:pPr>
            <a:r>
              <a:rPr sz="1200" b="1">
                <a:solidFill>
                  <a:srgbClr val="526579"/>
                </a:solidFill>
                <a:latin typeface="Arial"/>
                <a:ea typeface="Arial"/>
                <a:cs typeface="Arial"/>
              </a:rPr>
              <a:t>Clock Guided Course</a:t>
            </a:r>
          </a:p>
        </p:txBody>
      </p:sp>
    </p:spTree>
    <p:extLst>
      <p:ext uri="{BB962C8B-B14F-4D97-AF65-F5344CB8AC3E}">
        <p14:creationId xmlns:p14="http://schemas.microsoft.com/office/powerpoint/2010/main" val="16028865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2">
            <a:extLst xmlns:a="http://schemas.openxmlformats.org/drawingml/2006/main">
              <a:ext uri="{FF2B5EF4-FFF2-40B4-BE49-F238E27FC236}">
                <a16:creationId xmlns:a16="http://schemas.microsoft.com/office/drawing/2014/main" id="{5B47DBEA-BF41-4CE1-91D2-4F201487ACA6}"/>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2 OF 10 · WEEKS 3–4</a:t>
            </a:r>
          </a:p>
        </p:txBody>
      </p:sp>
      <p:sp>
        <p:nvSpPr>
          <p:cNvPr id="2" name="page-2">
            <a:extLst xmlns:a="http://schemas.openxmlformats.org/drawingml/2006/main">
              <a:ext uri="{FF2B5EF4-FFF2-40B4-BE49-F238E27FC236}">
                <a16:creationId xmlns:a16="http://schemas.microsoft.com/office/drawing/2014/main" id="{FD07EF64-05CF-44F2-AA23-44887E5D4E42}"/>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eb4113e2a1d4e18"/>
          <a:stretch xmlns:a="http://schemas.openxmlformats.org/drawingml/2006/main"/>
        </p:blipFill>
        <p:spPr>
          <a:xfrm xmlns:a="http://schemas.openxmlformats.org/drawingml/2006/main">
            <a:off x="7667625" y="857250"/>
            <a:ext cx="3429000" cy="5143500"/>
          </a:xfrm>
          <a:prstGeom xmlns:a="http://schemas.openxmlformats.org/drawingml/2006/main" prst="rect">
            <a:avLst/>
          </a:prstGeom>
        </p:spPr>
      </p:pic>
      <p:sp>
        <p:nvSpPr>
          <p:cNvPr id="4" name="topic-title-0">
            <a:extLst xmlns:a="http://schemas.openxmlformats.org/drawingml/2006/main">
              <a:ext uri="{FF2B5EF4-FFF2-40B4-BE49-F238E27FC236}">
                <a16:creationId xmlns:a16="http://schemas.microsoft.com/office/drawing/2014/main" id="{35BFAD89-3376-45D2-9E90-9EB14F046A6C}"/>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Timber grain, structure and defects in Clock components</a:t>
            </a:r>
          </a:p>
        </p:txBody>
      </p:sp>
      <p:sp>
        <p:nvSpPr>
          <p:cNvPr id="5" name="topic-body-0">
            <a:extLst xmlns:a="http://schemas.openxmlformats.org/drawingml/2006/main">
              <a:ext uri="{FF2B5EF4-FFF2-40B4-BE49-F238E27FC236}">
                <a16:creationId xmlns:a16="http://schemas.microsoft.com/office/drawing/2014/main" id="{4E4FCDCE-5DBE-4C2D-B9E7-D47DB59C7D73}"/>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Timber is a natural material, so each piece has its own grain pattern, colour and features. Before a Clock component is marked out or shaped, the timber should be inspected carefully.</a:t>
            </a:r>
          </a:p>
        </p:txBody>
      </p:sp>
      <p:sp>
        <p:nvSpPr>
          <p:cNvPr id="6" name="check-rule-0">
            <a:extLst xmlns:a="http://schemas.openxmlformats.org/drawingml/2006/main">
              <a:ext uri="{FF2B5EF4-FFF2-40B4-BE49-F238E27FC236}">
                <a16:creationId xmlns:a16="http://schemas.microsoft.com/office/drawing/2014/main" id="{1C03F74C-8596-48A2-BB98-BE775F1A39FF}"/>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0">
            <a:extLst xmlns:a="http://schemas.openxmlformats.org/drawingml/2006/main">
              <a:ext uri="{FF2B5EF4-FFF2-40B4-BE49-F238E27FC236}">
                <a16:creationId xmlns:a16="http://schemas.microsoft.com/office/drawing/2014/main" id="{080E167B-0D85-4383-9F35-8F43BDB562C3}"/>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Inspect the grain, structure and defects before marking out so each Clock component is placed for strength, accurate fitting, good appearance and responsible material use.</a:t>
            </a:r>
          </a:p>
        </p:txBody>
      </p:sp>
    </p:spTree>
    <p:extLst>
      <p:ext uri="{BB962C8B-B14F-4D97-AF65-F5344CB8AC3E}">
        <p14:creationId xmlns:p14="http://schemas.microsoft.com/office/powerpoint/2010/main" val="809711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abel-3">
            <a:extLst xmlns:a="http://schemas.openxmlformats.org/drawingml/2006/main">
              <a:ext uri="{FF2B5EF4-FFF2-40B4-BE49-F238E27FC236}">
                <a16:creationId xmlns:a16="http://schemas.microsoft.com/office/drawing/2014/main" id="{F7E36F7E-FA85-4422-819C-747759E4A477}"/>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2 OF 10 · WEEKS 3–4</a:t>
            </a:r>
          </a:p>
        </p:txBody>
      </p:sp>
      <p:sp>
        <p:nvSpPr>
          <p:cNvPr id="2" name="page-3">
            <a:extLst xmlns:a="http://schemas.openxmlformats.org/drawingml/2006/main">
              <a:ext uri="{FF2B5EF4-FFF2-40B4-BE49-F238E27FC236}">
                <a16:creationId xmlns:a16="http://schemas.microsoft.com/office/drawing/2014/main" id="{D4882C28-B9EA-4AB6-A295-EF2918ECFDB6}"/>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3</a:t>
            </a:r>
          </a:p>
        </p:txBody>
      </p:sp>
      <p:sp>
        <p:nvSpPr>
          <p:cNvPr id="3" name="accent-1">
            <a:extLst xmlns:a="http://schemas.openxmlformats.org/drawingml/2006/main">
              <a:ext uri="{FF2B5EF4-FFF2-40B4-BE49-F238E27FC236}">
                <a16:creationId xmlns:a16="http://schemas.microsoft.com/office/drawing/2014/main" id="{099D0826-A7E4-4974-92C3-150848DD759A}"/>
              </a:ext>
            </a:extLst>
          </p:cNvPr>
          <p:cNvSpPr>
            <a:spLocks xmlns:a="http://schemas.openxmlformats.org/drawingml/2006/main" noGrp="1"/>
          </p:cNvSpPr>
          <p:nvPr/>
        </p:nvSpPr>
        <p:spPr>
          <a:xfrm xmlns:a="http://schemas.openxmlformats.org/drawingml/2006/main">
            <a:off x="5905500" y="0"/>
            <a:ext cx="2667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896ebd06dd04707"/>
          <a:stretch xmlns:a="http://schemas.openxmlformats.org/drawingml/2006/main"/>
        </p:blipFill>
        <p:spPr>
          <a:xfrm xmlns:a="http://schemas.openxmlformats.org/drawingml/2006/main">
            <a:off x="991466" y="857250"/>
            <a:ext cx="3636818" cy="5143500"/>
          </a:xfrm>
          <a:prstGeom xmlns:a="http://schemas.openxmlformats.org/drawingml/2006/main" prst="rect">
            <a:avLst/>
          </a:prstGeom>
        </p:spPr>
      </p:pic>
      <p:sp>
        <p:nvSpPr>
          <p:cNvPr id="5" name="topic-title-1">
            <a:extLst xmlns:a="http://schemas.openxmlformats.org/drawingml/2006/main">
              <a:ext uri="{FF2B5EF4-FFF2-40B4-BE49-F238E27FC236}">
                <a16:creationId xmlns:a16="http://schemas.microsoft.com/office/drawing/2014/main" id="{08E168B7-C159-4C7B-938D-84740C7E76EA}"/>
              </a:ext>
            </a:extLst>
          </p:cNvPr>
          <p:cNvSpPr>
            <a:spLocks xmlns:a="http://schemas.openxmlformats.org/drawingml/2006/main" noGrp="1"/>
          </p:cNvSpPr>
          <p:nvPr/>
        </p:nvSpPr>
        <p:spPr>
          <a:xfrm xmlns:a="http://schemas.openxmlformats.org/drawingml/2006/main">
            <a:off x="65722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Writing a Work Method Statement for the Clock</a:t>
            </a:r>
          </a:p>
        </p:txBody>
      </p:sp>
      <p:sp>
        <p:nvSpPr>
          <p:cNvPr id="6" name="topic-body-1">
            <a:extLst xmlns:a="http://schemas.openxmlformats.org/drawingml/2006/main">
              <a:ext uri="{FF2B5EF4-FFF2-40B4-BE49-F238E27FC236}">
                <a16:creationId xmlns:a16="http://schemas.microsoft.com/office/drawing/2014/main" id="{0B47C573-16D5-4BE6-B153-05F0A3CE7F4B}"/>
              </a:ext>
            </a:extLst>
          </p:cNvPr>
          <p:cNvSpPr>
            <a:spLocks xmlns:a="http://schemas.openxmlformats.org/drawingml/2006/main" noGrp="1"/>
          </p:cNvSpPr>
          <p:nvPr/>
        </p:nvSpPr>
        <p:spPr>
          <a:xfrm xmlns:a="http://schemas.openxmlformats.org/drawingml/2006/main">
            <a:off x="65722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A Work Method Statement, or WMS, is a planned sequence showing how the Clock project will be completed safely, accurately and efficiently. It is more than a general list of workshop rules.</a:t>
            </a:r>
          </a:p>
        </p:txBody>
      </p:sp>
      <p:sp>
        <p:nvSpPr>
          <p:cNvPr id="7" name="check-rule-1">
            <a:extLst xmlns:a="http://schemas.openxmlformats.org/drawingml/2006/main">
              <a:ext uri="{FF2B5EF4-FFF2-40B4-BE49-F238E27FC236}">
                <a16:creationId xmlns:a16="http://schemas.microsoft.com/office/drawing/2014/main" id="{58B262BC-46B4-42E4-90D9-C036107AFDBA}"/>
              </a:ext>
            </a:extLst>
          </p:cNvPr>
          <p:cNvSpPr>
            <a:spLocks xmlns:a="http://schemas.openxmlformats.org/drawingml/2006/main" noGrp="1"/>
          </p:cNvSpPr>
          <p:nvPr/>
        </p:nvSpPr>
        <p:spPr>
          <a:xfrm xmlns:a="http://schemas.openxmlformats.org/drawingml/2006/main">
            <a:off x="65722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opic-check-1">
            <a:extLst xmlns:a="http://schemas.openxmlformats.org/drawingml/2006/main">
              <a:ext uri="{FF2B5EF4-FFF2-40B4-BE49-F238E27FC236}">
                <a16:creationId xmlns:a16="http://schemas.microsoft.com/office/drawing/2014/main" id="{5FC65F9C-115F-491E-B63D-A455BD8E898B}"/>
              </a:ext>
            </a:extLst>
          </p:cNvPr>
          <p:cNvSpPr>
            <a:spLocks xmlns:a="http://schemas.openxmlformats.org/drawingml/2006/main" noGrp="1"/>
          </p:cNvSpPr>
          <p:nvPr/>
        </p:nvSpPr>
        <p:spPr>
          <a:xfrm xmlns:a="http://schemas.openxmlformats.org/drawingml/2006/main">
            <a:off x="65722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A strong WMS connects each Clock stage to its hazards, controls and quality checks, creating a clear path from the drawing to the completed project.</a:t>
            </a:r>
          </a:p>
        </p:txBody>
      </p:sp>
    </p:spTree>
    <p:extLst>
      <p:ext uri="{BB962C8B-B14F-4D97-AF65-F5344CB8AC3E}">
        <p14:creationId xmlns:p14="http://schemas.microsoft.com/office/powerpoint/2010/main" val="4791875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4">
            <a:extLst xmlns:a="http://schemas.openxmlformats.org/drawingml/2006/main">
              <a:ext uri="{FF2B5EF4-FFF2-40B4-BE49-F238E27FC236}">
                <a16:creationId xmlns:a16="http://schemas.microsoft.com/office/drawing/2014/main" id="{64D97770-C9AC-406F-94BF-06A2133D622B}"/>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2 OF 10 · WEEKS 3–4</a:t>
            </a:r>
          </a:p>
        </p:txBody>
      </p:sp>
      <p:sp>
        <p:nvSpPr>
          <p:cNvPr id="2" name="page-4">
            <a:extLst xmlns:a="http://schemas.openxmlformats.org/drawingml/2006/main">
              <a:ext uri="{FF2B5EF4-FFF2-40B4-BE49-F238E27FC236}">
                <a16:creationId xmlns:a16="http://schemas.microsoft.com/office/drawing/2014/main" id="{8F5E4791-D106-45DB-9872-4C3BF5274EAC}"/>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b24decaedb4024"/>
          <a:stretch xmlns:a="http://schemas.openxmlformats.org/drawingml/2006/main"/>
        </p:blipFill>
        <p:spPr>
          <a:xfrm xmlns:a="http://schemas.openxmlformats.org/drawingml/2006/main">
            <a:off x="6572250" y="1257448"/>
            <a:ext cx="5619750" cy="4343103"/>
          </a:xfrm>
          <a:prstGeom xmlns:a="http://schemas.openxmlformats.org/drawingml/2006/main" prst="rect">
            <a:avLst/>
          </a:prstGeom>
        </p:spPr>
      </p:pic>
      <p:sp>
        <p:nvSpPr>
          <p:cNvPr id="4" name="topic-title-2">
            <a:extLst xmlns:a="http://schemas.openxmlformats.org/drawingml/2006/main">
              <a:ext uri="{FF2B5EF4-FFF2-40B4-BE49-F238E27FC236}">
                <a16:creationId xmlns:a16="http://schemas.microsoft.com/office/drawing/2014/main" id="{6DDED849-8497-44B2-A099-5F7FBB05C27C}"/>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Cutting lists, material calculations and cost planning</a:t>
            </a:r>
          </a:p>
        </p:txBody>
      </p:sp>
      <p:sp>
        <p:nvSpPr>
          <p:cNvPr id="5" name="topic-body-2">
            <a:extLst xmlns:a="http://schemas.openxmlformats.org/drawingml/2006/main">
              <a:ext uri="{FF2B5EF4-FFF2-40B4-BE49-F238E27FC236}">
                <a16:creationId xmlns:a16="http://schemas.microsoft.com/office/drawing/2014/main" id="{BB389A8A-E6F8-4989-BE8D-551BEC1BD30F}"/>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A cutting list turns the Clock working drawing into an organised record of the timber components required for the project. It identifies each component, its approved dimensions, the required quantity and any notes needed to distinguish it from similar parts.</a:t>
            </a:r>
          </a:p>
        </p:txBody>
      </p:sp>
      <p:sp>
        <p:nvSpPr>
          <p:cNvPr id="6" name="check-rule-2">
            <a:extLst xmlns:a="http://schemas.openxmlformats.org/drawingml/2006/main">
              <a:ext uri="{FF2B5EF4-FFF2-40B4-BE49-F238E27FC236}">
                <a16:creationId xmlns:a16="http://schemas.microsoft.com/office/drawing/2014/main" id="{3869C1BC-177A-4FA0-A49A-AD6D07BC91EF}"/>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2">
            <a:extLst xmlns:a="http://schemas.openxmlformats.org/drawingml/2006/main">
              <a:ext uri="{FF2B5EF4-FFF2-40B4-BE49-F238E27FC236}">
                <a16:creationId xmlns:a16="http://schemas.microsoft.com/office/drawing/2014/main" id="{F6420E86-699D-4C68-ADEA-C200D69141AB}"/>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A reliable cutting list links approved drawing information to quantities, material use and cost, while an honest planned-versus-actual record shows what really happened during the project.</a:t>
            </a:r>
          </a:p>
        </p:txBody>
      </p:sp>
    </p:spTree>
    <p:extLst>
      <p:ext uri="{BB962C8B-B14F-4D97-AF65-F5344CB8AC3E}">
        <p14:creationId xmlns:p14="http://schemas.microsoft.com/office/powerpoint/2010/main" val="4970345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label-5">
            <a:extLst xmlns:a="http://schemas.openxmlformats.org/drawingml/2006/main">
              <a:ext uri="{FF2B5EF4-FFF2-40B4-BE49-F238E27FC236}">
                <a16:creationId xmlns:a16="http://schemas.microsoft.com/office/drawing/2014/main" id="{C34853C0-78ED-469D-96B2-0BBAE80FCC1B}"/>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BEFORE YOU MOVE ON</a:t>
            </a:r>
          </a:p>
        </p:txBody>
      </p:sp>
      <p:sp>
        <p:nvSpPr>
          <p:cNvPr id="2" name="page-5">
            <a:extLst xmlns:a="http://schemas.openxmlformats.org/drawingml/2006/main">
              <a:ext uri="{FF2B5EF4-FFF2-40B4-BE49-F238E27FC236}">
                <a16:creationId xmlns:a16="http://schemas.microsoft.com/office/drawing/2014/main" id="{57A0F6A6-BDBB-40C7-9024-9DDB7D0841AE}"/>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5</a:t>
            </a:r>
          </a:p>
        </p:txBody>
      </p:sp>
      <p:sp>
        <p:nvSpPr>
          <p:cNvPr id="3" name="close-panel">
            <a:extLst xmlns:a="http://schemas.openxmlformats.org/drawingml/2006/main">
              <a:ext uri="{FF2B5EF4-FFF2-40B4-BE49-F238E27FC236}">
                <a16:creationId xmlns:a16="http://schemas.microsoft.com/office/drawing/2014/main" id="{6A48C78B-DA21-4D57-8948-5EADEFC1E368}"/>
              </a:ext>
            </a:extLst>
          </p:cNvPr>
          <p:cNvSpPr>
            <a:spLocks xmlns:a="http://schemas.openxmlformats.org/drawingml/2006/main" noGrp="1"/>
          </p:cNvSpPr>
          <p:nvPr/>
        </p:nvSpPr>
        <p:spPr>
          <a:xfrm xmlns:a="http://schemas.openxmlformats.org/drawingml/2006/main">
            <a:off x="552450" y="1428750"/>
            <a:ext cx="11087100" cy="3333750"/>
          </a:xfrm>
          <a:prstGeom xmlns:a="http://schemas.openxmlformats.org/drawingml/2006/main" prst="rect">
            <a:avLst/>
          </a:prstGeom>
          <a:solidFill xmlns:a="http://schemas.openxmlformats.org/drawingml/2006/main">
            <a:srgbClr val="EDF1F4"/>
          </a:solidFill>
          <a:ln xmlns:a="http://schemas.openxmlformats.org/drawingml/2006/main" w="9525">
            <a:solidFill>
              <a:srgbClr val="B8C2CC"/>
            </a:solidFill>
            <a:prstDash val="solid"/>
          </a:ln>
        </p:spPr>
      </p:sp>
      <p:sp>
        <p:nvSpPr>
          <p:cNvPr id="4" name="close-title">
            <a:extLst xmlns:a="http://schemas.openxmlformats.org/drawingml/2006/main">
              <a:ext uri="{FF2B5EF4-FFF2-40B4-BE49-F238E27FC236}">
                <a16:creationId xmlns:a16="http://schemas.microsoft.com/office/drawing/2014/main" id="{8C8EDAEB-DBC7-4A96-B15E-5F5C0E35412A}"/>
              </a:ext>
            </a:extLst>
          </p:cNvPr>
          <p:cNvSpPr>
            <a:spLocks xmlns:a="http://schemas.openxmlformats.org/drawingml/2006/main" noGrp="1"/>
          </p:cNvSpPr>
          <p:nvPr/>
        </p:nvSpPr>
        <p:spPr>
          <a:xfrm xmlns:a="http://schemas.openxmlformats.org/drawingml/2006/main">
            <a:off x="914400" y="1952625"/>
            <a:ext cx="1028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10263D"/>
                </a:solidFill>
                <a:latin typeface="Arial"/>
                <a:ea typeface="Arial"/>
                <a:cs typeface="Arial"/>
              </a:defRPr>
            </a:pPr>
            <a:r>
              <a:rPr sz="3300" b="1">
                <a:solidFill>
                  <a:srgbClr val="10263D"/>
                </a:solidFill>
                <a:latin typeface="Arial"/>
                <a:ea typeface="Arial"/>
                <a:cs typeface="Arial"/>
              </a:rPr>
              <a:t>Use these three Clock ideas to complete the Weeks 3–4 checks and evidence.</a:t>
            </a:r>
          </a:p>
        </p:txBody>
      </p:sp>
      <p:sp>
        <p:nvSpPr>
          <p:cNvPr id="5" name="close-action">
            <a:extLst xmlns:a="http://schemas.openxmlformats.org/drawingml/2006/main">
              <a:ext uri="{FF2B5EF4-FFF2-40B4-BE49-F238E27FC236}">
                <a16:creationId xmlns:a16="http://schemas.microsoft.com/office/drawing/2014/main" id="{4E33EE8D-F8E1-46AC-8F67-7487C555CB32}"/>
              </a:ext>
            </a:extLst>
          </p:cNvPr>
          <p:cNvSpPr>
            <a:spLocks xmlns:a="http://schemas.openxmlformats.org/drawingml/2006/main" noGrp="1"/>
          </p:cNvSpPr>
          <p:nvPr/>
        </p:nvSpPr>
        <p:spPr>
          <a:xfrm xmlns:a="http://schemas.openxmlformats.org/drawingml/2006/main">
            <a:off x="1809750" y="5219700"/>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a:solidFill>
                  <a:srgbClr val="526579"/>
                </a:solidFill>
                <a:latin typeface="Arial"/>
                <a:ea typeface="Arial"/>
                <a:cs typeface="Arial"/>
              </a:defRPr>
            </a:pPr>
            <a:r>
              <a:rPr sz="1800">
                <a:solidFill>
                  <a:srgbClr val="526579"/>
                </a:solidFill>
                <a:latin typeface="Arial"/>
                <a:ea typeface="Arial"/>
                <a:cs typeface="Arial"/>
              </a:rPr>
              <a:t>Complete the knowledge checks and written responses, then download your evidence as directed.</a:t>
            </a:r>
          </a:p>
        </p:txBody>
      </p:sp>
    </p:spTree>
    <p:extLst>
      <p:ext uri="{BB962C8B-B14F-4D97-AF65-F5344CB8AC3E}">
        <p14:creationId xmlns:p14="http://schemas.microsoft.com/office/powerpoint/2010/main" val="1037445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2026-08-15T10:19:25.6220000Z</dcterms:created>
  <dcterms:modified xsi:type="dcterms:W3CDTF">2026-08-15T10:19:25.6220000Z</dcterms:modified>
</coreProperties>
</file>